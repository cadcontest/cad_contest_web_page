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57" r:id="rId3"/>
    <p:sldId id="258" r:id="rId4"/>
    <p:sldId id="270" r:id="rId5"/>
    <p:sldId id="259" r:id="rId6"/>
    <p:sldId id="260" r:id="rId7"/>
    <p:sldId id="261" r:id="rId8"/>
    <p:sldId id="274" r:id="rId9"/>
    <p:sldId id="271" r:id="rId10"/>
    <p:sldId id="272" r:id="rId11"/>
    <p:sldId id="276" r:id="rId12"/>
    <p:sldId id="262" r:id="rId13"/>
    <p:sldId id="264" r:id="rId14"/>
    <p:sldId id="265" r:id="rId15"/>
    <p:sldId id="267" r:id="rId16"/>
    <p:sldId id="268" r:id="rId17"/>
    <p:sldId id="27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8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274" autoAdjust="0"/>
  </p:normalViewPr>
  <p:slideViewPr>
    <p:cSldViewPr snapToGrid="0">
      <p:cViewPr varScale="1">
        <p:scale>
          <a:sx n="94" d="100"/>
          <a:sy n="94" d="100"/>
        </p:scale>
        <p:origin x="1230" y="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shu\Desktop\result%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kshu\Desktop\result%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kshu\Desktop\result%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kshu\Desktop\result%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kshu\Desktop\result%20analysi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Overall Cost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Sheet3!$A$2</c:f>
              <c:strCache>
                <c:ptCount val="1"/>
                <c:pt idx="0">
                  <c:v>Alpha</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Sheet3!$B$5:$E$5</c:f>
              <c:strCache>
                <c:ptCount val="4"/>
                <c:pt idx="0">
                  <c:v>top1-
case3</c:v>
                </c:pt>
                <c:pt idx="1">
                  <c:v>top2-
case3</c:v>
                </c:pt>
                <c:pt idx="2">
                  <c:v>top3-
case3</c:v>
                </c:pt>
                <c:pt idx="3">
                  <c:v>top4-
case3</c:v>
                </c:pt>
              </c:strCache>
            </c:strRef>
          </c:cat>
          <c:val>
            <c:numRef>
              <c:f>Sheet3!$B$2:$E$2</c:f>
              <c:numCache>
                <c:formatCode>General</c:formatCode>
                <c:ptCount val="4"/>
                <c:pt idx="0">
                  <c:v>1757681</c:v>
                </c:pt>
                <c:pt idx="1">
                  <c:v>1869046</c:v>
                </c:pt>
                <c:pt idx="2">
                  <c:v>9559296</c:v>
                </c:pt>
                <c:pt idx="3">
                  <c:v>15450763</c:v>
                </c:pt>
              </c:numCache>
            </c:numRef>
          </c:val>
          <c:smooth val="0"/>
          <c:extLst>
            <c:ext xmlns:c16="http://schemas.microsoft.com/office/drawing/2014/chart" uri="{C3380CC4-5D6E-409C-BE32-E72D297353CC}">
              <c16:uniqueId val="{00000000-2971-4321-B4AF-D4D86D3EC240}"/>
            </c:ext>
          </c:extLst>
        </c:ser>
        <c:ser>
          <c:idx val="1"/>
          <c:order val="1"/>
          <c:tx>
            <c:strRef>
              <c:f>Sheet3!$A$3</c:f>
              <c:strCache>
                <c:ptCount val="1"/>
                <c:pt idx="0">
                  <c:v>Beta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Sheet3!$B$5:$E$5</c:f>
              <c:strCache>
                <c:ptCount val="4"/>
                <c:pt idx="0">
                  <c:v>top1-
case3</c:v>
                </c:pt>
                <c:pt idx="1">
                  <c:v>top2-
case3</c:v>
                </c:pt>
                <c:pt idx="2">
                  <c:v>top3-
case3</c:v>
                </c:pt>
                <c:pt idx="3">
                  <c:v>top4-
case3</c:v>
                </c:pt>
              </c:strCache>
            </c:strRef>
          </c:cat>
          <c:val>
            <c:numRef>
              <c:f>Sheet3!$B$3:$E$3</c:f>
              <c:numCache>
                <c:formatCode>General</c:formatCode>
                <c:ptCount val="4"/>
                <c:pt idx="0">
                  <c:v>782176</c:v>
                </c:pt>
                <c:pt idx="1">
                  <c:v>815736</c:v>
                </c:pt>
                <c:pt idx="2">
                  <c:v>881741</c:v>
                </c:pt>
                <c:pt idx="3">
                  <c:v>883606</c:v>
                </c:pt>
              </c:numCache>
            </c:numRef>
          </c:val>
          <c:smooth val="0"/>
          <c:extLst>
            <c:ext xmlns:c16="http://schemas.microsoft.com/office/drawing/2014/chart" uri="{C3380CC4-5D6E-409C-BE32-E72D297353CC}">
              <c16:uniqueId val="{00000001-2971-4321-B4AF-D4D86D3EC240}"/>
            </c:ext>
          </c:extLst>
        </c:ser>
        <c:ser>
          <c:idx val="2"/>
          <c:order val="2"/>
          <c:tx>
            <c:strRef>
              <c:f>Sheet3!$A$4</c:f>
              <c:strCache>
                <c:ptCount val="1"/>
                <c:pt idx="0">
                  <c:v>Final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Sheet3!$B$5:$E$5</c:f>
              <c:strCache>
                <c:ptCount val="4"/>
                <c:pt idx="0">
                  <c:v>top1-
case3</c:v>
                </c:pt>
                <c:pt idx="1">
                  <c:v>top2-
case3</c:v>
                </c:pt>
                <c:pt idx="2">
                  <c:v>top3-
case3</c:v>
                </c:pt>
                <c:pt idx="3">
                  <c:v>top4-
case3</c:v>
                </c:pt>
              </c:strCache>
            </c:strRef>
          </c:cat>
          <c:val>
            <c:numRef>
              <c:f>Sheet3!$B$4:$E$4</c:f>
              <c:numCache>
                <c:formatCode>General</c:formatCode>
                <c:ptCount val="4"/>
                <c:pt idx="0">
                  <c:v>733630</c:v>
                </c:pt>
                <c:pt idx="1">
                  <c:v>737124</c:v>
                </c:pt>
                <c:pt idx="2">
                  <c:v>737928</c:v>
                </c:pt>
                <c:pt idx="3">
                  <c:v>752813</c:v>
                </c:pt>
              </c:numCache>
            </c:numRef>
          </c:val>
          <c:smooth val="0"/>
          <c:extLst>
            <c:ext xmlns:c16="http://schemas.microsoft.com/office/drawing/2014/chart" uri="{C3380CC4-5D6E-409C-BE32-E72D297353CC}">
              <c16:uniqueId val="{00000002-2971-4321-B4AF-D4D86D3EC240}"/>
            </c:ext>
          </c:extLst>
        </c:ser>
        <c:dLbls>
          <c:showLegendKey val="0"/>
          <c:showVal val="0"/>
          <c:showCatName val="0"/>
          <c:showSerName val="0"/>
          <c:showPercent val="0"/>
          <c:showBubbleSize val="0"/>
        </c:dLbls>
        <c:marker val="1"/>
        <c:smooth val="0"/>
        <c:axId val="532750760"/>
        <c:axId val="532747152"/>
      </c:lineChart>
      <c:catAx>
        <c:axId val="532750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32747152"/>
        <c:crosses val="autoZero"/>
        <c:auto val="1"/>
        <c:lblAlgn val="ctr"/>
        <c:lblOffset val="100"/>
        <c:noMultiLvlLbl val="0"/>
      </c:catAx>
      <c:valAx>
        <c:axId val="532747152"/>
        <c:scaling>
          <c:logBase val="10"/>
          <c:orientation val="minMax"/>
          <c:max val="50000000"/>
          <c:min val="500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532750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Wire</a:t>
            </a:r>
            <a:r>
              <a:rPr lang="en-US" baseline="0" dirty="0"/>
              <a:t> Cost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Sheet3!$K$2</c:f>
              <c:strCache>
                <c:ptCount val="1"/>
                <c:pt idx="0">
                  <c:v>Alpha</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Sheet3!$L$5:$O$5</c:f>
              <c:strCache>
                <c:ptCount val="4"/>
                <c:pt idx="0">
                  <c:v>top1-
case3</c:v>
                </c:pt>
                <c:pt idx="1">
                  <c:v>top2-
case3</c:v>
                </c:pt>
                <c:pt idx="2">
                  <c:v>top3-
case3</c:v>
                </c:pt>
                <c:pt idx="3">
                  <c:v>top4-
case3</c:v>
                </c:pt>
              </c:strCache>
            </c:strRef>
          </c:cat>
          <c:val>
            <c:numRef>
              <c:f>Sheet3!$L$2:$O$2</c:f>
              <c:numCache>
                <c:formatCode>General</c:formatCode>
                <c:ptCount val="4"/>
                <c:pt idx="0">
                  <c:v>1215821</c:v>
                </c:pt>
                <c:pt idx="1">
                  <c:v>1367296</c:v>
                </c:pt>
                <c:pt idx="2">
                  <c:v>9219576</c:v>
                </c:pt>
                <c:pt idx="3">
                  <c:v>15087553</c:v>
                </c:pt>
              </c:numCache>
            </c:numRef>
          </c:val>
          <c:smooth val="0"/>
          <c:extLst>
            <c:ext xmlns:c16="http://schemas.microsoft.com/office/drawing/2014/chart" uri="{C3380CC4-5D6E-409C-BE32-E72D297353CC}">
              <c16:uniqueId val="{00000000-F5DE-4C24-A0A6-8C6DB5F331CE}"/>
            </c:ext>
          </c:extLst>
        </c:ser>
        <c:ser>
          <c:idx val="1"/>
          <c:order val="1"/>
          <c:tx>
            <c:strRef>
              <c:f>Sheet3!$K$3</c:f>
              <c:strCache>
                <c:ptCount val="1"/>
                <c:pt idx="0">
                  <c:v>Beta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Sheet3!$L$5:$O$5</c:f>
              <c:strCache>
                <c:ptCount val="4"/>
                <c:pt idx="0">
                  <c:v>top1-
case3</c:v>
                </c:pt>
                <c:pt idx="1">
                  <c:v>top2-
case3</c:v>
                </c:pt>
                <c:pt idx="2">
                  <c:v>top3-
case3</c:v>
                </c:pt>
                <c:pt idx="3">
                  <c:v>top4-
case3</c:v>
                </c:pt>
              </c:strCache>
            </c:strRef>
          </c:cat>
          <c:val>
            <c:numRef>
              <c:f>Sheet3!$L$3:$O$3</c:f>
              <c:numCache>
                <c:formatCode>General</c:formatCode>
                <c:ptCount val="4"/>
                <c:pt idx="0">
                  <c:v>152566</c:v>
                </c:pt>
                <c:pt idx="1">
                  <c:v>178566</c:v>
                </c:pt>
                <c:pt idx="2">
                  <c:v>270851</c:v>
                </c:pt>
                <c:pt idx="3">
                  <c:v>272686</c:v>
                </c:pt>
              </c:numCache>
            </c:numRef>
          </c:val>
          <c:smooth val="0"/>
          <c:extLst>
            <c:ext xmlns:c16="http://schemas.microsoft.com/office/drawing/2014/chart" uri="{C3380CC4-5D6E-409C-BE32-E72D297353CC}">
              <c16:uniqueId val="{00000001-F5DE-4C24-A0A6-8C6DB5F331CE}"/>
            </c:ext>
          </c:extLst>
        </c:ser>
        <c:ser>
          <c:idx val="2"/>
          <c:order val="2"/>
          <c:tx>
            <c:strRef>
              <c:f>Sheet3!$K$4</c:f>
              <c:strCache>
                <c:ptCount val="1"/>
                <c:pt idx="0">
                  <c:v>Final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Sheet3!$L$5:$O$5</c:f>
              <c:strCache>
                <c:ptCount val="4"/>
                <c:pt idx="0">
                  <c:v>top1-
case3</c:v>
                </c:pt>
                <c:pt idx="1">
                  <c:v>top2-
case3</c:v>
                </c:pt>
                <c:pt idx="2">
                  <c:v>top3-
case3</c:v>
                </c:pt>
                <c:pt idx="3">
                  <c:v>top4-
case3</c:v>
                </c:pt>
              </c:strCache>
            </c:strRef>
          </c:cat>
          <c:val>
            <c:numRef>
              <c:f>Sheet3!$L$4:$O$4</c:f>
              <c:numCache>
                <c:formatCode>General</c:formatCode>
                <c:ptCount val="4"/>
                <c:pt idx="0">
                  <c:v>101500</c:v>
                </c:pt>
                <c:pt idx="1">
                  <c:v>96864</c:v>
                </c:pt>
                <c:pt idx="2">
                  <c:v>106878</c:v>
                </c:pt>
                <c:pt idx="3">
                  <c:v>124553</c:v>
                </c:pt>
              </c:numCache>
            </c:numRef>
          </c:val>
          <c:smooth val="0"/>
          <c:extLst>
            <c:ext xmlns:c16="http://schemas.microsoft.com/office/drawing/2014/chart" uri="{C3380CC4-5D6E-409C-BE32-E72D297353CC}">
              <c16:uniqueId val="{00000002-F5DE-4C24-A0A6-8C6DB5F331CE}"/>
            </c:ext>
          </c:extLst>
        </c:ser>
        <c:dLbls>
          <c:showLegendKey val="0"/>
          <c:showVal val="0"/>
          <c:showCatName val="0"/>
          <c:showSerName val="0"/>
          <c:showPercent val="0"/>
          <c:showBubbleSize val="0"/>
        </c:dLbls>
        <c:marker val="1"/>
        <c:smooth val="0"/>
        <c:axId val="532737640"/>
        <c:axId val="532735672"/>
      </c:lineChart>
      <c:catAx>
        <c:axId val="532737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32735672"/>
        <c:crosses val="autoZero"/>
        <c:auto val="1"/>
        <c:lblAlgn val="ctr"/>
        <c:lblOffset val="100"/>
        <c:noMultiLvlLbl val="0"/>
      </c:catAx>
      <c:valAx>
        <c:axId val="532735672"/>
        <c:scaling>
          <c:logBase val="10"/>
          <c:orientation val="minMax"/>
          <c:min val="90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532737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Via Cost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Sheet3!$R$28</c:f>
              <c:strCache>
                <c:ptCount val="1"/>
                <c:pt idx="0">
                  <c:v>Alpha</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Sheet3!$S$31:$V$31</c:f>
              <c:strCache>
                <c:ptCount val="4"/>
                <c:pt idx="0">
                  <c:v>top1-
case3</c:v>
                </c:pt>
                <c:pt idx="1">
                  <c:v>top2-
case3</c:v>
                </c:pt>
                <c:pt idx="2">
                  <c:v>top3-
case3</c:v>
                </c:pt>
                <c:pt idx="3">
                  <c:v>top4-
case3</c:v>
                </c:pt>
              </c:strCache>
            </c:strRef>
          </c:cat>
          <c:val>
            <c:numRef>
              <c:f>Sheet3!$S$28:$V$28</c:f>
              <c:numCache>
                <c:formatCode>General</c:formatCode>
                <c:ptCount val="4"/>
                <c:pt idx="0">
                  <c:v>541860</c:v>
                </c:pt>
                <c:pt idx="1">
                  <c:v>501750</c:v>
                </c:pt>
                <c:pt idx="2">
                  <c:v>339720</c:v>
                </c:pt>
                <c:pt idx="3">
                  <c:v>363210</c:v>
                </c:pt>
              </c:numCache>
            </c:numRef>
          </c:val>
          <c:smooth val="0"/>
          <c:extLst>
            <c:ext xmlns:c16="http://schemas.microsoft.com/office/drawing/2014/chart" uri="{C3380CC4-5D6E-409C-BE32-E72D297353CC}">
              <c16:uniqueId val="{00000000-815C-4E63-BAE4-32ACD67F1357}"/>
            </c:ext>
          </c:extLst>
        </c:ser>
        <c:ser>
          <c:idx val="1"/>
          <c:order val="1"/>
          <c:tx>
            <c:strRef>
              <c:f>Sheet3!$R$29</c:f>
              <c:strCache>
                <c:ptCount val="1"/>
                <c:pt idx="0">
                  <c:v>Beta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Sheet3!$S$31:$V$31</c:f>
              <c:strCache>
                <c:ptCount val="4"/>
                <c:pt idx="0">
                  <c:v>top1-
case3</c:v>
                </c:pt>
                <c:pt idx="1">
                  <c:v>top2-
case3</c:v>
                </c:pt>
                <c:pt idx="2">
                  <c:v>top3-
case3</c:v>
                </c:pt>
                <c:pt idx="3">
                  <c:v>top4-
case3</c:v>
                </c:pt>
              </c:strCache>
            </c:strRef>
          </c:cat>
          <c:val>
            <c:numRef>
              <c:f>Sheet3!$S$29:$V$29</c:f>
              <c:numCache>
                <c:formatCode>General</c:formatCode>
                <c:ptCount val="4"/>
                <c:pt idx="0">
                  <c:v>629610</c:v>
                </c:pt>
                <c:pt idx="1">
                  <c:v>637170</c:v>
                </c:pt>
                <c:pt idx="2">
                  <c:v>610890</c:v>
                </c:pt>
                <c:pt idx="3">
                  <c:v>610920</c:v>
                </c:pt>
              </c:numCache>
            </c:numRef>
          </c:val>
          <c:smooth val="0"/>
          <c:extLst>
            <c:ext xmlns:c16="http://schemas.microsoft.com/office/drawing/2014/chart" uri="{C3380CC4-5D6E-409C-BE32-E72D297353CC}">
              <c16:uniqueId val="{00000001-815C-4E63-BAE4-32ACD67F1357}"/>
            </c:ext>
          </c:extLst>
        </c:ser>
        <c:ser>
          <c:idx val="2"/>
          <c:order val="2"/>
          <c:tx>
            <c:strRef>
              <c:f>Sheet3!$R$30</c:f>
              <c:strCache>
                <c:ptCount val="1"/>
                <c:pt idx="0">
                  <c:v>Final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Sheet3!$S$31:$V$31</c:f>
              <c:strCache>
                <c:ptCount val="4"/>
                <c:pt idx="0">
                  <c:v>top1-
case3</c:v>
                </c:pt>
                <c:pt idx="1">
                  <c:v>top2-
case3</c:v>
                </c:pt>
                <c:pt idx="2">
                  <c:v>top3-
case3</c:v>
                </c:pt>
                <c:pt idx="3">
                  <c:v>top4-
case3</c:v>
                </c:pt>
              </c:strCache>
            </c:strRef>
          </c:cat>
          <c:val>
            <c:numRef>
              <c:f>Sheet3!$S$30:$V$30</c:f>
              <c:numCache>
                <c:formatCode>General</c:formatCode>
                <c:ptCount val="4"/>
                <c:pt idx="0">
                  <c:v>632130</c:v>
                </c:pt>
                <c:pt idx="1">
                  <c:v>640260</c:v>
                </c:pt>
                <c:pt idx="2">
                  <c:v>631050</c:v>
                </c:pt>
                <c:pt idx="3">
                  <c:v>628260</c:v>
                </c:pt>
              </c:numCache>
            </c:numRef>
          </c:val>
          <c:smooth val="0"/>
          <c:extLst>
            <c:ext xmlns:c16="http://schemas.microsoft.com/office/drawing/2014/chart" uri="{C3380CC4-5D6E-409C-BE32-E72D297353CC}">
              <c16:uniqueId val="{00000002-815C-4E63-BAE4-32ACD67F1357}"/>
            </c:ext>
          </c:extLst>
        </c:ser>
        <c:dLbls>
          <c:showLegendKey val="0"/>
          <c:showVal val="0"/>
          <c:showCatName val="0"/>
          <c:showSerName val="0"/>
          <c:showPercent val="0"/>
          <c:showBubbleSize val="0"/>
        </c:dLbls>
        <c:marker val="1"/>
        <c:smooth val="0"/>
        <c:axId val="532722552"/>
        <c:axId val="532723536"/>
      </c:lineChart>
      <c:catAx>
        <c:axId val="532722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32723536"/>
        <c:crosses val="autoZero"/>
        <c:auto val="1"/>
        <c:lblAlgn val="ctr"/>
        <c:lblOffset val="100"/>
        <c:noMultiLvlLbl val="0"/>
      </c:catAx>
      <c:valAx>
        <c:axId val="532723536"/>
        <c:scaling>
          <c:orientation val="minMax"/>
          <c:min val="270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532722552"/>
        <c:crosses val="autoZero"/>
        <c:crossBetween val="between"/>
        <c:majorUnit val="10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r>
              <a:rPr lang="en-US" sz="2000" dirty="0"/>
              <a:t>Via Count</a:t>
            </a:r>
          </a:p>
        </c:rich>
      </c:tx>
      <c:overlay val="0"/>
      <c:spPr>
        <a:noFill/>
        <a:ln>
          <a:noFill/>
        </a:ln>
        <a:effectLst/>
      </c:spPr>
      <c:txPr>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manualLayout>
          <c:layoutTarget val="inner"/>
          <c:xMode val="edge"/>
          <c:yMode val="edge"/>
          <c:x val="8.139127990706814E-2"/>
          <c:y val="0.21179640104221109"/>
          <c:w val="0.90072834682958069"/>
          <c:h val="0.62069977853381242"/>
        </c:manualLayout>
      </c:layout>
      <c:barChart>
        <c:barDir val="col"/>
        <c:grouping val="stacked"/>
        <c:varyColors val="0"/>
        <c:ser>
          <c:idx val="6"/>
          <c:order val="0"/>
          <c:tx>
            <c:strRef>
              <c:f>Sheet1!$J$16</c:f>
              <c:strCache>
                <c:ptCount val="1"/>
                <c:pt idx="0">
                  <c:v>single via</c:v>
                </c:pt>
              </c:strCache>
            </c:strRef>
          </c:tx>
          <c:spPr>
            <a:solidFill>
              <a:schemeClr val="accent6">
                <a:lumMod val="80000"/>
                <a:lumOff val="20000"/>
              </a:schemeClr>
            </a:solidFill>
            <a:ln>
              <a:noFill/>
            </a:ln>
            <a:effectLst/>
          </c:spPr>
          <c:invertIfNegative val="0"/>
          <c:cat>
            <c:strRef>
              <c:f>Sheet1!$K$15:$X$15</c:f>
              <c:strCache>
                <c:ptCount val="14"/>
                <c:pt idx="0">
                  <c:v>top1-
case3 
Alpha</c:v>
                </c:pt>
                <c:pt idx="1">
                  <c:v>top2-
case3 
Alpha</c:v>
                </c:pt>
                <c:pt idx="2">
                  <c:v>top3-
case3 
Alpha</c:v>
                </c:pt>
                <c:pt idx="3">
                  <c:v>top4-
case3 
Alpha</c:v>
                </c:pt>
                <c:pt idx="5">
                  <c:v>top1-case3
Beta</c:v>
                </c:pt>
                <c:pt idx="6">
                  <c:v>top2-case3
Beta</c:v>
                </c:pt>
                <c:pt idx="7">
                  <c:v>top3-case3
Beta</c:v>
                </c:pt>
                <c:pt idx="8">
                  <c:v>top4-case3
Beta</c:v>
                </c:pt>
                <c:pt idx="10">
                  <c:v>top1-case3
Final</c:v>
                </c:pt>
                <c:pt idx="11">
                  <c:v>top2-case3
Final</c:v>
                </c:pt>
                <c:pt idx="12">
                  <c:v>top3-case3
Final</c:v>
                </c:pt>
                <c:pt idx="13">
                  <c:v>top4-case3
Final</c:v>
                </c:pt>
              </c:strCache>
            </c:strRef>
          </c:cat>
          <c:val>
            <c:numRef>
              <c:f>Sheet1!$K$16:$X$16</c:f>
              <c:numCache>
                <c:formatCode>General</c:formatCode>
                <c:ptCount val="14"/>
                <c:pt idx="0">
                  <c:v>16316</c:v>
                </c:pt>
                <c:pt idx="1">
                  <c:v>16283</c:v>
                </c:pt>
                <c:pt idx="2">
                  <c:v>10888</c:v>
                </c:pt>
                <c:pt idx="3">
                  <c:v>11827</c:v>
                </c:pt>
                <c:pt idx="5">
                  <c:v>15577</c:v>
                </c:pt>
                <c:pt idx="6">
                  <c:v>15332</c:v>
                </c:pt>
                <c:pt idx="7">
                  <c:v>12573</c:v>
                </c:pt>
                <c:pt idx="8">
                  <c:v>15364</c:v>
                </c:pt>
                <c:pt idx="10">
                  <c:v>15271</c:v>
                </c:pt>
                <c:pt idx="11">
                  <c:v>14879</c:v>
                </c:pt>
                <c:pt idx="12">
                  <c:v>15163</c:v>
                </c:pt>
                <c:pt idx="13">
                  <c:v>15432</c:v>
                </c:pt>
              </c:numCache>
            </c:numRef>
          </c:val>
          <c:extLst>
            <c:ext xmlns:c16="http://schemas.microsoft.com/office/drawing/2014/chart" uri="{C3380CC4-5D6E-409C-BE32-E72D297353CC}">
              <c16:uniqueId val="{00000000-88C2-477B-BE19-66EC158D23E7}"/>
            </c:ext>
          </c:extLst>
        </c:ser>
        <c:ser>
          <c:idx val="0"/>
          <c:order val="1"/>
          <c:tx>
            <c:strRef>
              <c:f>Sheet1!$J$17</c:f>
              <c:strCache>
                <c:ptCount val="1"/>
                <c:pt idx="0">
                  <c:v>2-stacked</c:v>
                </c:pt>
              </c:strCache>
            </c:strRef>
          </c:tx>
          <c:spPr>
            <a:solidFill>
              <a:schemeClr val="accent6"/>
            </a:solidFill>
            <a:ln>
              <a:noFill/>
            </a:ln>
            <a:effectLst/>
          </c:spPr>
          <c:invertIfNegative val="0"/>
          <c:cat>
            <c:strRef>
              <c:f>Sheet1!$K$15:$X$15</c:f>
              <c:strCache>
                <c:ptCount val="14"/>
                <c:pt idx="0">
                  <c:v>top1-
case3 
Alpha</c:v>
                </c:pt>
                <c:pt idx="1">
                  <c:v>top2-
case3 
Alpha</c:v>
                </c:pt>
                <c:pt idx="2">
                  <c:v>top3-
case3 
Alpha</c:v>
                </c:pt>
                <c:pt idx="3">
                  <c:v>top4-
case3 
Alpha</c:v>
                </c:pt>
                <c:pt idx="5">
                  <c:v>top1-case3
Beta</c:v>
                </c:pt>
                <c:pt idx="6">
                  <c:v>top2-case3
Beta</c:v>
                </c:pt>
                <c:pt idx="7">
                  <c:v>top3-case3
Beta</c:v>
                </c:pt>
                <c:pt idx="8">
                  <c:v>top4-case3
Beta</c:v>
                </c:pt>
                <c:pt idx="10">
                  <c:v>top1-case3
Final</c:v>
                </c:pt>
                <c:pt idx="11">
                  <c:v>top2-case3
Final</c:v>
                </c:pt>
                <c:pt idx="12">
                  <c:v>top3-case3
Final</c:v>
                </c:pt>
                <c:pt idx="13">
                  <c:v>top4-case3
Final</c:v>
                </c:pt>
              </c:strCache>
            </c:strRef>
          </c:cat>
          <c:val>
            <c:numRef>
              <c:f>Sheet1!$K$17:$X$17</c:f>
              <c:numCache>
                <c:formatCode>General</c:formatCode>
                <c:ptCount val="14"/>
                <c:pt idx="0">
                  <c:v>1016</c:v>
                </c:pt>
                <c:pt idx="1">
                  <c:v>442</c:v>
                </c:pt>
                <c:pt idx="2">
                  <c:v>436</c:v>
                </c:pt>
                <c:pt idx="3">
                  <c:v>280</c:v>
                </c:pt>
                <c:pt idx="5">
                  <c:v>2940</c:v>
                </c:pt>
                <c:pt idx="6">
                  <c:v>3882</c:v>
                </c:pt>
                <c:pt idx="7">
                  <c:v>5366</c:v>
                </c:pt>
                <c:pt idx="8">
                  <c:v>2932</c:v>
                </c:pt>
                <c:pt idx="10">
                  <c:v>3518</c:v>
                </c:pt>
                <c:pt idx="11">
                  <c:v>3818</c:v>
                </c:pt>
                <c:pt idx="12">
                  <c:v>3320</c:v>
                </c:pt>
                <c:pt idx="13">
                  <c:v>3162</c:v>
                </c:pt>
              </c:numCache>
            </c:numRef>
          </c:val>
          <c:extLst>
            <c:ext xmlns:c16="http://schemas.microsoft.com/office/drawing/2014/chart" uri="{C3380CC4-5D6E-409C-BE32-E72D297353CC}">
              <c16:uniqueId val="{00000001-88C2-477B-BE19-66EC158D23E7}"/>
            </c:ext>
          </c:extLst>
        </c:ser>
        <c:ser>
          <c:idx val="1"/>
          <c:order val="2"/>
          <c:tx>
            <c:strRef>
              <c:f>Sheet1!$J$18</c:f>
              <c:strCache>
                <c:ptCount val="1"/>
                <c:pt idx="0">
                  <c:v>3-stacked</c:v>
                </c:pt>
              </c:strCache>
            </c:strRef>
          </c:tx>
          <c:spPr>
            <a:solidFill>
              <a:schemeClr val="accent5"/>
            </a:solidFill>
            <a:ln>
              <a:noFill/>
            </a:ln>
            <a:effectLst/>
          </c:spPr>
          <c:invertIfNegative val="0"/>
          <c:cat>
            <c:strRef>
              <c:f>Sheet1!$K$15:$X$15</c:f>
              <c:strCache>
                <c:ptCount val="14"/>
                <c:pt idx="0">
                  <c:v>top1-
case3 
Alpha</c:v>
                </c:pt>
                <c:pt idx="1">
                  <c:v>top2-
case3 
Alpha</c:v>
                </c:pt>
                <c:pt idx="2">
                  <c:v>top3-
case3 
Alpha</c:v>
                </c:pt>
                <c:pt idx="3">
                  <c:v>top4-
case3 
Alpha</c:v>
                </c:pt>
                <c:pt idx="5">
                  <c:v>top1-case3
Beta</c:v>
                </c:pt>
                <c:pt idx="6">
                  <c:v>top2-case3
Beta</c:v>
                </c:pt>
                <c:pt idx="7">
                  <c:v>top3-case3
Beta</c:v>
                </c:pt>
                <c:pt idx="8">
                  <c:v>top4-case3
Beta</c:v>
                </c:pt>
                <c:pt idx="10">
                  <c:v>top1-case3
Final</c:v>
                </c:pt>
                <c:pt idx="11">
                  <c:v>top2-case3
Final</c:v>
                </c:pt>
                <c:pt idx="12">
                  <c:v>top3-case3
Final</c:v>
                </c:pt>
                <c:pt idx="13">
                  <c:v>top4-case3
Final</c:v>
                </c:pt>
              </c:strCache>
            </c:strRef>
          </c:cat>
          <c:val>
            <c:numRef>
              <c:f>Sheet1!$K$18:$X$18</c:f>
              <c:numCache>
                <c:formatCode>General</c:formatCode>
                <c:ptCount val="14"/>
                <c:pt idx="0">
                  <c:v>408</c:v>
                </c:pt>
                <c:pt idx="1">
                  <c:v>0</c:v>
                </c:pt>
                <c:pt idx="2">
                  <c:v>0</c:v>
                </c:pt>
                <c:pt idx="3">
                  <c:v>0</c:v>
                </c:pt>
                <c:pt idx="5">
                  <c:v>1344</c:v>
                </c:pt>
                <c:pt idx="6">
                  <c:v>1206</c:v>
                </c:pt>
                <c:pt idx="7">
                  <c:v>1419</c:v>
                </c:pt>
                <c:pt idx="8">
                  <c:v>1155</c:v>
                </c:pt>
                <c:pt idx="10">
                  <c:v>1287</c:v>
                </c:pt>
                <c:pt idx="11">
                  <c:v>1530</c:v>
                </c:pt>
                <c:pt idx="12">
                  <c:v>1353</c:v>
                </c:pt>
                <c:pt idx="13">
                  <c:v>1326</c:v>
                </c:pt>
              </c:numCache>
            </c:numRef>
          </c:val>
          <c:extLst>
            <c:ext xmlns:c16="http://schemas.microsoft.com/office/drawing/2014/chart" uri="{C3380CC4-5D6E-409C-BE32-E72D297353CC}">
              <c16:uniqueId val="{00000002-88C2-477B-BE19-66EC158D23E7}"/>
            </c:ext>
          </c:extLst>
        </c:ser>
        <c:ser>
          <c:idx val="2"/>
          <c:order val="3"/>
          <c:tx>
            <c:strRef>
              <c:f>Sheet1!$J$19</c:f>
              <c:strCache>
                <c:ptCount val="1"/>
                <c:pt idx="0">
                  <c:v>4-stacked</c:v>
                </c:pt>
              </c:strCache>
            </c:strRef>
          </c:tx>
          <c:spPr>
            <a:solidFill>
              <a:schemeClr val="accent4"/>
            </a:solidFill>
            <a:ln>
              <a:noFill/>
            </a:ln>
            <a:effectLst/>
          </c:spPr>
          <c:invertIfNegative val="0"/>
          <c:cat>
            <c:strRef>
              <c:f>Sheet1!$K$15:$X$15</c:f>
              <c:strCache>
                <c:ptCount val="14"/>
                <c:pt idx="0">
                  <c:v>top1-
case3 
Alpha</c:v>
                </c:pt>
                <c:pt idx="1">
                  <c:v>top2-
case3 
Alpha</c:v>
                </c:pt>
                <c:pt idx="2">
                  <c:v>top3-
case3 
Alpha</c:v>
                </c:pt>
                <c:pt idx="3">
                  <c:v>top4-
case3 
Alpha</c:v>
                </c:pt>
                <c:pt idx="5">
                  <c:v>top1-case3
Beta</c:v>
                </c:pt>
                <c:pt idx="6">
                  <c:v>top2-case3
Beta</c:v>
                </c:pt>
                <c:pt idx="7">
                  <c:v>top3-case3
Beta</c:v>
                </c:pt>
                <c:pt idx="8">
                  <c:v>top4-case3
Beta</c:v>
                </c:pt>
                <c:pt idx="10">
                  <c:v>top1-case3
Final</c:v>
                </c:pt>
                <c:pt idx="11">
                  <c:v>top2-case3
Final</c:v>
                </c:pt>
                <c:pt idx="12">
                  <c:v>top3-case3
Final</c:v>
                </c:pt>
                <c:pt idx="13">
                  <c:v>top4-case3
Final</c:v>
                </c:pt>
              </c:strCache>
            </c:strRef>
          </c:cat>
          <c:val>
            <c:numRef>
              <c:f>Sheet1!$K$19:$X$19</c:f>
              <c:numCache>
                <c:formatCode>General</c:formatCode>
                <c:ptCount val="14"/>
                <c:pt idx="0">
                  <c:v>232</c:v>
                </c:pt>
                <c:pt idx="1">
                  <c:v>0</c:v>
                </c:pt>
                <c:pt idx="2">
                  <c:v>0</c:v>
                </c:pt>
                <c:pt idx="3">
                  <c:v>0</c:v>
                </c:pt>
                <c:pt idx="5">
                  <c:v>620</c:v>
                </c:pt>
                <c:pt idx="6">
                  <c:v>480</c:v>
                </c:pt>
                <c:pt idx="7">
                  <c:v>564</c:v>
                </c:pt>
                <c:pt idx="8">
                  <c:v>464</c:v>
                </c:pt>
                <c:pt idx="10">
                  <c:v>576</c:v>
                </c:pt>
                <c:pt idx="11">
                  <c:v>600</c:v>
                </c:pt>
                <c:pt idx="12">
                  <c:v>616</c:v>
                </c:pt>
                <c:pt idx="13">
                  <c:v>568</c:v>
                </c:pt>
              </c:numCache>
            </c:numRef>
          </c:val>
          <c:extLst>
            <c:ext xmlns:c16="http://schemas.microsoft.com/office/drawing/2014/chart" uri="{C3380CC4-5D6E-409C-BE32-E72D297353CC}">
              <c16:uniqueId val="{00000003-88C2-477B-BE19-66EC158D23E7}"/>
            </c:ext>
          </c:extLst>
        </c:ser>
        <c:ser>
          <c:idx val="3"/>
          <c:order val="4"/>
          <c:tx>
            <c:strRef>
              <c:f>Sheet1!$J$20</c:f>
              <c:strCache>
                <c:ptCount val="1"/>
                <c:pt idx="0">
                  <c:v>5-stacked</c:v>
                </c:pt>
              </c:strCache>
            </c:strRef>
          </c:tx>
          <c:spPr>
            <a:solidFill>
              <a:schemeClr val="accent6">
                <a:lumMod val="60000"/>
              </a:schemeClr>
            </a:solidFill>
            <a:ln>
              <a:noFill/>
            </a:ln>
            <a:effectLst/>
          </c:spPr>
          <c:invertIfNegative val="0"/>
          <c:cat>
            <c:strRef>
              <c:f>Sheet1!$K$15:$X$15</c:f>
              <c:strCache>
                <c:ptCount val="14"/>
                <c:pt idx="0">
                  <c:v>top1-
case3 
Alpha</c:v>
                </c:pt>
                <c:pt idx="1">
                  <c:v>top2-
case3 
Alpha</c:v>
                </c:pt>
                <c:pt idx="2">
                  <c:v>top3-
case3 
Alpha</c:v>
                </c:pt>
                <c:pt idx="3">
                  <c:v>top4-
case3 
Alpha</c:v>
                </c:pt>
                <c:pt idx="5">
                  <c:v>top1-case3
Beta</c:v>
                </c:pt>
                <c:pt idx="6">
                  <c:v>top2-case3
Beta</c:v>
                </c:pt>
                <c:pt idx="7">
                  <c:v>top3-case3
Beta</c:v>
                </c:pt>
                <c:pt idx="8">
                  <c:v>top4-case3
Beta</c:v>
                </c:pt>
                <c:pt idx="10">
                  <c:v>top1-case3
Final</c:v>
                </c:pt>
                <c:pt idx="11">
                  <c:v>top2-case3
Final</c:v>
                </c:pt>
                <c:pt idx="12">
                  <c:v>top3-case3
Final</c:v>
                </c:pt>
                <c:pt idx="13">
                  <c:v>top4-case3
Final</c:v>
                </c:pt>
              </c:strCache>
            </c:strRef>
          </c:cat>
          <c:val>
            <c:numRef>
              <c:f>Sheet1!$K$20:$X$20</c:f>
              <c:numCache>
                <c:formatCode>General</c:formatCode>
                <c:ptCount val="14"/>
                <c:pt idx="0">
                  <c:v>70</c:v>
                </c:pt>
                <c:pt idx="1">
                  <c:v>0</c:v>
                </c:pt>
                <c:pt idx="2">
                  <c:v>0</c:v>
                </c:pt>
                <c:pt idx="3">
                  <c:v>0</c:v>
                </c:pt>
                <c:pt idx="5">
                  <c:v>305</c:v>
                </c:pt>
                <c:pt idx="6">
                  <c:v>215</c:v>
                </c:pt>
                <c:pt idx="7">
                  <c:v>255</c:v>
                </c:pt>
                <c:pt idx="8">
                  <c:v>270</c:v>
                </c:pt>
                <c:pt idx="10">
                  <c:v>255</c:v>
                </c:pt>
                <c:pt idx="11">
                  <c:v>315</c:v>
                </c:pt>
                <c:pt idx="12">
                  <c:v>325</c:v>
                </c:pt>
                <c:pt idx="13">
                  <c:v>285</c:v>
                </c:pt>
              </c:numCache>
            </c:numRef>
          </c:val>
          <c:extLst>
            <c:ext xmlns:c16="http://schemas.microsoft.com/office/drawing/2014/chart" uri="{C3380CC4-5D6E-409C-BE32-E72D297353CC}">
              <c16:uniqueId val="{00000004-88C2-477B-BE19-66EC158D23E7}"/>
            </c:ext>
          </c:extLst>
        </c:ser>
        <c:ser>
          <c:idx val="4"/>
          <c:order val="5"/>
          <c:tx>
            <c:strRef>
              <c:f>Sheet1!$J$21</c:f>
              <c:strCache>
                <c:ptCount val="1"/>
                <c:pt idx="0">
                  <c:v>6-stacked</c:v>
                </c:pt>
              </c:strCache>
            </c:strRef>
          </c:tx>
          <c:spPr>
            <a:solidFill>
              <a:schemeClr val="accent5">
                <a:lumMod val="60000"/>
              </a:schemeClr>
            </a:solidFill>
            <a:ln>
              <a:noFill/>
            </a:ln>
            <a:effectLst/>
          </c:spPr>
          <c:invertIfNegative val="0"/>
          <c:cat>
            <c:strRef>
              <c:f>Sheet1!$K$15:$X$15</c:f>
              <c:strCache>
                <c:ptCount val="14"/>
                <c:pt idx="0">
                  <c:v>top1-
case3 
Alpha</c:v>
                </c:pt>
                <c:pt idx="1">
                  <c:v>top2-
case3 
Alpha</c:v>
                </c:pt>
                <c:pt idx="2">
                  <c:v>top3-
case3 
Alpha</c:v>
                </c:pt>
                <c:pt idx="3">
                  <c:v>top4-
case3 
Alpha</c:v>
                </c:pt>
                <c:pt idx="5">
                  <c:v>top1-case3
Beta</c:v>
                </c:pt>
                <c:pt idx="6">
                  <c:v>top2-case3
Beta</c:v>
                </c:pt>
                <c:pt idx="7">
                  <c:v>top3-case3
Beta</c:v>
                </c:pt>
                <c:pt idx="8">
                  <c:v>top4-case3
Beta</c:v>
                </c:pt>
                <c:pt idx="10">
                  <c:v>top1-case3
Final</c:v>
                </c:pt>
                <c:pt idx="11">
                  <c:v>top2-case3
Final</c:v>
                </c:pt>
                <c:pt idx="12">
                  <c:v>top3-case3
Final</c:v>
                </c:pt>
                <c:pt idx="13">
                  <c:v>top4-case3
Final</c:v>
                </c:pt>
              </c:strCache>
            </c:strRef>
          </c:cat>
          <c:val>
            <c:numRef>
              <c:f>Sheet1!$K$21:$X$21</c:f>
              <c:numCache>
                <c:formatCode>General</c:formatCode>
                <c:ptCount val="14"/>
                <c:pt idx="0">
                  <c:v>6</c:v>
                </c:pt>
                <c:pt idx="1">
                  <c:v>0</c:v>
                </c:pt>
                <c:pt idx="2">
                  <c:v>0</c:v>
                </c:pt>
                <c:pt idx="3">
                  <c:v>0</c:v>
                </c:pt>
                <c:pt idx="5">
                  <c:v>138</c:v>
                </c:pt>
                <c:pt idx="6">
                  <c:v>96</c:v>
                </c:pt>
                <c:pt idx="7">
                  <c:v>144</c:v>
                </c:pt>
                <c:pt idx="8">
                  <c:v>144</c:v>
                </c:pt>
                <c:pt idx="10">
                  <c:v>108</c:v>
                </c:pt>
                <c:pt idx="11">
                  <c:v>144</c:v>
                </c:pt>
                <c:pt idx="12">
                  <c:v>174</c:v>
                </c:pt>
                <c:pt idx="13">
                  <c:v>120</c:v>
                </c:pt>
              </c:numCache>
            </c:numRef>
          </c:val>
          <c:extLst>
            <c:ext xmlns:c16="http://schemas.microsoft.com/office/drawing/2014/chart" uri="{C3380CC4-5D6E-409C-BE32-E72D297353CC}">
              <c16:uniqueId val="{00000005-88C2-477B-BE19-66EC158D23E7}"/>
            </c:ext>
          </c:extLst>
        </c:ser>
        <c:ser>
          <c:idx val="5"/>
          <c:order val="6"/>
          <c:tx>
            <c:strRef>
              <c:f>Sheet1!$J$22</c:f>
              <c:strCache>
                <c:ptCount val="1"/>
                <c:pt idx="0">
                  <c:v>7-stacked</c:v>
                </c:pt>
              </c:strCache>
            </c:strRef>
          </c:tx>
          <c:spPr>
            <a:solidFill>
              <a:schemeClr val="accent4">
                <a:lumMod val="60000"/>
              </a:schemeClr>
            </a:solidFill>
            <a:ln>
              <a:noFill/>
            </a:ln>
            <a:effectLst/>
          </c:spPr>
          <c:invertIfNegative val="0"/>
          <c:cat>
            <c:strRef>
              <c:f>Sheet1!$K$15:$X$15</c:f>
              <c:strCache>
                <c:ptCount val="14"/>
                <c:pt idx="0">
                  <c:v>top1-
case3 
Alpha</c:v>
                </c:pt>
                <c:pt idx="1">
                  <c:v>top2-
case3 
Alpha</c:v>
                </c:pt>
                <c:pt idx="2">
                  <c:v>top3-
case3 
Alpha</c:v>
                </c:pt>
                <c:pt idx="3">
                  <c:v>top4-
case3 
Alpha</c:v>
                </c:pt>
                <c:pt idx="5">
                  <c:v>top1-case3
Beta</c:v>
                </c:pt>
                <c:pt idx="6">
                  <c:v>top2-case3
Beta</c:v>
                </c:pt>
                <c:pt idx="7">
                  <c:v>top3-case3
Beta</c:v>
                </c:pt>
                <c:pt idx="8">
                  <c:v>top4-case3
Beta</c:v>
                </c:pt>
                <c:pt idx="10">
                  <c:v>top1-case3
Final</c:v>
                </c:pt>
                <c:pt idx="11">
                  <c:v>top2-case3
Final</c:v>
                </c:pt>
                <c:pt idx="12">
                  <c:v>top3-case3
Final</c:v>
                </c:pt>
                <c:pt idx="13">
                  <c:v>top4-case3
Final</c:v>
                </c:pt>
              </c:strCache>
            </c:strRef>
          </c:cat>
          <c:val>
            <c:numRef>
              <c:f>Sheet1!$K$22:$X$22</c:f>
              <c:numCache>
                <c:formatCode>General</c:formatCode>
                <c:ptCount val="14"/>
                <c:pt idx="0">
                  <c:v>14</c:v>
                </c:pt>
                <c:pt idx="1">
                  <c:v>0</c:v>
                </c:pt>
                <c:pt idx="2">
                  <c:v>0</c:v>
                </c:pt>
                <c:pt idx="3">
                  <c:v>0</c:v>
                </c:pt>
                <c:pt idx="5">
                  <c:v>63</c:v>
                </c:pt>
                <c:pt idx="6">
                  <c:v>28</c:v>
                </c:pt>
                <c:pt idx="7">
                  <c:v>42</c:v>
                </c:pt>
                <c:pt idx="8">
                  <c:v>35</c:v>
                </c:pt>
                <c:pt idx="10">
                  <c:v>56</c:v>
                </c:pt>
                <c:pt idx="11">
                  <c:v>56</c:v>
                </c:pt>
                <c:pt idx="12">
                  <c:v>84</c:v>
                </c:pt>
                <c:pt idx="13">
                  <c:v>49</c:v>
                </c:pt>
              </c:numCache>
            </c:numRef>
          </c:val>
          <c:extLst>
            <c:ext xmlns:c16="http://schemas.microsoft.com/office/drawing/2014/chart" uri="{C3380CC4-5D6E-409C-BE32-E72D297353CC}">
              <c16:uniqueId val="{00000006-88C2-477B-BE19-66EC158D23E7}"/>
            </c:ext>
          </c:extLst>
        </c:ser>
        <c:dLbls>
          <c:showLegendKey val="0"/>
          <c:showVal val="0"/>
          <c:showCatName val="0"/>
          <c:showSerName val="0"/>
          <c:showPercent val="0"/>
          <c:showBubbleSize val="0"/>
        </c:dLbls>
        <c:gapWidth val="150"/>
        <c:overlap val="100"/>
        <c:axId val="514519840"/>
        <c:axId val="514518528"/>
      </c:barChart>
      <c:catAx>
        <c:axId val="514519840"/>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00" b="0" i="0" u="none" strike="noStrike" kern="1200" cap="none" spc="0" normalizeH="0" baseline="0">
                <a:solidFill>
                  <a:schemeClr val="tx1">
                    <a:lumMod val="65000"/>
                    <a:lumOff val="35000"/>
                  </a:schemeClr>
                </a:solidFill>
                <a:latin typeface="+mn-lt"/>
                <a:ea typeface="+mn-ea"/>
                <a:cs typeface="+mn-cs"/>
              </a:defRPr>
            </a:pPr>
            <a:endParaRPr lang="en-US"/>
          </a:p>
        </c:txPr>
        <c:crossAx val="514518528"/>
        <c:crosses val="autoZero"/>
        <c:auto val="1"/>
        <c:lblAlgn val="ctr"/>
        <c:lblOffset val="100"/>
        <c:noMultiLvlLbl val="0"/>
      </c:catAx>
      <c:valAx>
        <c:axId val="51451852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451984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Runtime (sec)</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1AC9-41D6-9A28-E7614BD39C36}"/>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2-1AC9-41D6-9A28-E7614BD39C36}"/>
              </c:ext>
            </c:extLst>
          </c:dPt>
          <c:cat>
            <c:strRef>
              <c:f>Sheet1!$Z$14:$Z$16</c:f>
              <c:strCache>
                <c:ptCount val="3"/>
                <c:pt idx="0">
                  <c:v>top1-
case3 
Alpha</c:v>
                </c:pt>
                <c:pt idx="1">
                  <c:v>top1-
case3 
Beta</c:v>
                </c:pt>
                <c:pt idx="2">
                  <c:v>top1-
case3 
Final</c:v>
                </c:pt>
              </c:strCache>
            </c:strRef>
          </c:cat>
          <c:val>
            <c:numRef>
              <c:f>Sheet1!$AA$14:$AA$16</c:f>
              <c:numCache>
                <c:formatCode>General</c:formatCode>
                <c:ptCount val="3"/>
                <c:pt idx="0">
                  <c:v>1328</c:v>
                </c:pt>
                <c:pt idx="1">
                  <c:v>263</c:v>
                </c:pt>
                <c:pt idx="2">
                  <c:v>114</c:v>
                </c:pt>
              </c:numCache>
            </c:numRef>
          </c:val>
          <c:extLst>
            <c:ext xmlns:c16="http://schemas.microsoft.com/office/drawing/2014/chart" uri="{C3380CC4-5D6E-409C-BE32-E72D297353CC}">
              <c16:uniqueId val="{00000000-1AC9-41D6-9A28-E7614BD39C36}"/>
            </c:ext>
          </c:extLst>
        </c:ser>
        <c:dLbls>
          <c:showLegendKey val="0"/>
          <c:showVal val="0"/>
          <c:showCatName val="0"/>
          <c:showSerName val="0"/>
          <c:showPercent val="0"/>
          <c:showBubbleSize val="0"/>
        </c:dLbls>
        <c:gapWidth val="219"/>
        <c:overlap val="-27"/>
        <c:axId val="332137232"/>
        <c:axId val="332132968"/>
      </c:barChart>
      <c:catAx>
        <c:axId val="332137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332132968"/>
        <c:crosses val="autoZero"/>
        <c:auto val="1"/>
        <c:lblAlgn val="ctr"/>
        <c:lblOffset val="100"/>
        <c:noMultiLvlLbl val="0"/>
      </c:catAx>
      <c:valAx>
        <c:axId val="332132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3321372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0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3D212-CF0E-4CD8-9FAB-48D6CC4C5598}" type="datetimeFigureOut">
              <a:rPr lang="en-US" smtClean="0"/>
              <a:t>11/14/2017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685269-28BD-42CC-9FF9-AFFC6659FF4F}" type="slidenum">
              <a:rPr lang="en-US" smtClean="0"/>
              <a:t>‹#›</a:t>
            </a:fld>
            <a:endParaRPr lang="en-US"/>
          </a:p>
        </p:txBody>
      </p:sp>
    </p:spTree>
    <p:extLst>
      <p:ext uri="{BB962C8B-B14F-4D97-AF65-F5344CB8AC3E}">
        <p14:creationId xmlns:p14="http://schemas.microsoft.com/office/powerpoint/2010/main" val="2798724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685269-28BD-42CC-9FF9-AFFC6659FF4F}" type="slidenum">
              <a:rPr lang="en-US" smtClean="0"/>
              <a:t>1</a:t>
            </a:fld>
            <a:endParaRPr lang="en-US"/>
          </a:p>
        </p:txBody>
      </p:sp>
    </p:spTree>
    <p:extLst>
      <p:ext uri="{BB962C8B-B14F-4D97-AF65-F5344CB8AC3E}">
        <p14:creationId xmlns:p14="http://schemas.microsoft.com/office/powerpoint/2010/main" val="1628721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2</a:t>
            </a:fld>
            <a:endParaRPr lang="en-US"/>
          </a:p>
        </p:txBody>
      </p:sp>
    </p:spTree>
    <p:extLst>
      <p:ext uri="{BB962C8B-B14F-4D97-AF65-F5344CB8AC3E}">
        <p14:creationId xmlns:p14="http://schemas.microsoft.com/office/powerpoint/2010/main" val="971377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3</a:t>
            </a:fld>
            <a:endParaRPr lang="en-US"/>
          </a:p>
        </p:txBody>
      </p:sp>
    </p:spTree>
    <p:extLst>
      <p:ext uri="{BB962C8B-B14F-4D97-AF65-F5344CB8AC3E}">
        <p14:creationId xmlns:p14="http://schemas.microsoft.com/office/powerpoint/2010/main" val="2821981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4</a:t>
            </a:fld>
            <a:endParaRPr lang="en-US"/>
          </a:p>
        </p:txBody>
      </p:sp>
    </p:spTree>
    <p:extLst>
      <p:ext uri="{BB962C8B-B14F-4D97-AF65-F5344CB8AC3E}">
        <p14:creationId xmlns:p14="http://schemas.microsoft.com/office/powerpoint/2010/main" val="1678392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5</a:t>
            </a:fld>
            <a:endParaRPr lang="en-US"/>
          </a:p>
        </p:txBody>
      </p:sp>
    </p:spTree>
    <p:extLst>
      <p:ext uri="{BB962C8B-B14F-4D97-AF65-F5344CB8AC3E}">
        <p14:creationId xmlns:p14="http://schemas.microsoft.com/office/powerpoint/2010/main" val="1069148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6</a:t>
            </a:fld>
            <a:endParaRPr lang="en-US"/>
          </a:p>
        </p:txBody>
      </p:sp>
    </p:spTree>
    <p:extLst>
      <p:ext uri="{BB962C8B-B14F-4D97-AF65-F5344CB8AC3E}">
        <p14:creationId xmlns:p14="http://schemas.microsoft.com/office/powerpoint/2010/main" val="351887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7</a:t>
            </a:fld>
            <a:endParaRPr lang="en-US"/>
          </a:p>
        </p:txBody>
      </p:sp>
    </p:spTree>
    <p:extLst>
      <p:ext uri="{BB962C8B-B14F-4D97-AF65-F5344CB8AC3E}">
        <p14:creationId xmlns:p14="http://schemas.microsoft.com/office/powerpoint/2010/main" val="375899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8</a:t>
            </a:fld>
            <a:endParaRPr lang="en-US"/>
          </a:p>
        </p:txBody>
      </p:sp>
    </p:spTree>
    <p:extLst>
      <p:ext uri="{BB962C8B-B14F-4D97-AF65-F5344CB8AC3E}">
        <p14:creationId xmlns:p14="http://schemas.microsoft.com/office/powerpoint/2010/main" val="2601839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9</a:t>
            </a:fld>
            <a:endParaRPr lang="en-US"/>
          </a:p>
        </p:txBody>
      </p:sp>
    </p:spTree>
    <p:extLst>
      <p:ext uri="{BB962C8B-B14F-4D97-AF65-F5344CB8AC3E}">
        <p14:creationId xmlns:p14="http://schemas.microsoft.com/office/powerpoint/2010/main" val="1008991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10</a:t>
            </a:fld>
            <a:endParaRPr lang="en-US"/>
          </a:p>
        </p:txBody>
      </p:sp>
    </p:spTree>
    <p:extLst>
      <p:ext uri="{BB962C8B-B14F-4D97-AF65-F5344CB8AC3E}">
        <p14:creationId xmlns:p14="http://schemas.microsoft.com/office/powerpoint/2010/main" val="968023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3685269-28BD-42CC-9FF9-AFFC6659FF4F}" type="slidenum">
              <a:rPr lang="en-US" smtClean="0"/>
              <a:t>11</a:t>
            </a:fld>
            <a:endParaRPr lang="en-US"/>
          </a:p>
        </p:txBody>
      </p:sp>
    </p:spTree>
    <p:extLst>
      <p:ext uri="{BB962C8B-B14F-4D97-AF65-F5344CB8AC3E}">
        <p14:creationId xmlns:p14="http://schemas.microsoft.com/office/powerpoint/2010/main" val="1599082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685269-28BD-42CC-9FF9-AFFC6659FF4F}" type="slidenum">
              <a:rPr lang="en-US" smtClean="0"/>
              <a:t>14</a:t>
            </a:fld>
            <a:endParaRPr lang="en-US"/>
          </a:p>
        </p:txBody>
      </p:sp>
    </p:spTree>
    <p:extLst>
      <p:ext uri="{BB962C8B-B14F-4D97-AF65-F5344CB8AC3E}">
        <p14:creationId xmlns:p14="http://schemas.microsoft.com/office/powerpoint/2010/main" val="934599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685269-28BD-42CC-9FF9-AFFC6659FF4F}" type="slidenum">
              <a:rPr lang="en-US" smtClean="0"/>
              <a:t>15</a:t>
            </a:fld>
            <a:endParaRPr lang="en-US"/>
          </a:p>
        </p:txBody>
      </p:sp>
    </p:spTree>
    <p:extLst>
      <p:ext uri="{BB962C8B-B14F-4D97-AF65-F5344CB8AC3E}">
        <p14:creationId xmlns:p14="http://schemas.microsoft.com/office/powerpoint/2010/main" val="42450122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3.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13.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8.xml"/><Relationship Id="rId7"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microsoft.com/office/2007/relationships/hdphoto" Target="../media/hdphoto2.wdp"/><Relationship Id="rId5" Type="http://schemas.openxmlformats.org/officeDocument/2006/relationships/image" Target="../media/image5.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slideMaster" Target="../slideMasters/slideMaster1.xml"/><Relationship Id="rId4" Type="http://schemas.openxmlformats.org/officeDocument/2006/relationships/tags" Target="../tags/tag35.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Master" Target="../slideMasters/slideMaster1.xml"/><Relationship Id="rId5" Type="http://schemas.openxmlformats.org/officeDocument/2006/relationships/tags" Target="../tags/tag51.xml"/><Relationship Id="rId4" Type="http://schemas.openxmlformats.org/officeDocument/2006/relationships/tags" Target="../tags/tag50.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Master" Target="../slideMasters/slideMaster1.xml"/><Relationship Id="rId4" Type="http://schemas.openxmlformats.org/officeDocument/2006/relationships/tags" Target="../tags/tag55.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Master" Target="../slideMasters/slideMaster1.xml"/><Relationship Id="rId5" Type="http://schemas.openxmlformats.org/officeDocument/2006/relationships/tags" Target="../tags/tag60.xml"/><Relationship Id="rId4" Type="http://schemas.openxmlformats.org/officeDocument/2006/relationships/tags" Target="../tags/tag59.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Master" Target="../slideMasters/slideMaster1.xml"/><Relationship Id="rId5" Type="http://schemas.openxmlformats.org/officeDocument/2006/relationships/tags" Target="../tags/tag65.xml"/><Relationship Id="rId4" Type="http://schemas.openxmlformats.org/officeDocument/2006/relationships/tags" Target="../tags/tag64.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slideMaster" Target="../slideMasters/slideMaster1.xml"/><Relationship Id="rId5" Type="http://schemas.openxmlformats.org/officeDocument/2006/relationships/tags" Target="../tags/tag70.xml"/><Relationship Id="rId4" Type="http://schemas.openxmlformats.org/officeDocument/2006/relationships/tags" Target="../tags/tag6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4.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tags" Target="../tags/tag7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0233358" y="485435"/>
            <a:ext cx="1653211" cy="529027"/>
          </a:xfrm>
          <a:prstGeom prst="rect">
            <a:avLst/>
          </a:prstGeom>
        </p:spPr>
      </p:pic>
      <p:sp>
        <p:nvSpPr>
          <p:cNvPr id="2" name="Title 1"/>
          <p:cNvSpPr>
            <a:spLocks noGrp="1"/>
          </p:cNvSpPr>
          <p:nvPr>
            <p:ph type="ctrTitle" hasCustomPrompt="1"/>
            <p:custDataLst>
              <p:tags r:id="rId2"/>
            </p:custDataLst>
          </p:nvPr>
        </p:nvSpPr>
        <p:spPr>
          <a:xfrm>
            <a:off x="609600" y="1895641"/>
            <a:ext cx="10972800" cy="1177506"/>
          </a:xfrm>
        </p:spPr>
        <p:txBody>
          <a:bodyPr anchor="b">
            <a:normAutofit/>
          </a:bodyPr>
          <a:lstStyle>
            <a:lvl1pPr algn="l">
              <a:defRPr sz="3600" baseline="0"/>
            </a:lvl1pPr>
          </a:lstStyle>
          <a:p>
            <a:r>
              <a:rPr lang="en-US" dirty="0"/>
              <a:t>Click to Add a Title</a:t>
            </a:r>
          </a:p>
        </p:txBody>
      </p:sp>
      <p:sp>
        <p:nvSpPr>
          <p:cNvPr id="3" name="Subtitle 2"/>
          <p:cNvSpPr>
            <a:spLocks noGrp="1"/>
          </p:cNvSpPr>
          <p:nvPr>
            <p:ph type="subTitle" idx="1" hasCustomPrompt="1"/>
            <p:custDataLst>
              <p:tags r:id="rId3"/>
            </p:custDataLst>
          </p:nvPr>
        </p:nvSpPr>
        <p:spPr>
          <a:xfrm>
            <a:off x="609600" y="3094852"/>
            <a:ext cx="10963923" cy="917516"/>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a Subtitle</a:t>
            </a:r>
          </a:p>
        </p:txBody>
      </p:sp>
      <p:pic>
        <p:nvPicPr>
          <p:cNvPr id="5" name="Picture 4"/>
          <p:cNvPicPr>
            <a:picLocks noChangeAspect="1"/>
          </p:cNvPicPr>
          <p:nvPr>
            <p:custDataLst>
              <p:tags r:id="rId4"/>
            </p:custDataLst>
          </p:nvPr>
        </p:nvPicPr>
        <p:blipFill>
          <a:blip r:embed="rId7"/>
          <a:stretch>
            <a:fillRect/>
          </a:stretch>
        </p:blipFill>
        <p:spPr>
          <a:xfrm>
            <a:off x="0" y="4753502"/>
            <a:ext cx="12188952" cy="210449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lvl1pPr>
              <a:defRPr/>
            </a:lvl1pPr>
          </a:lstStyle>
          <a:p>
            <a:r>
              <a:rPr lang="en-US" dirty="0"/>
              <a:t>Click to Add a Title</a:t>
            </a:r>
          </a:p>
        </p:txBody>
      </p:sp>
      <p:sp>
        <p:nvSpPr>
          <p:cNvPr id="3" name="Content Placeholder 2"/>
          <p:cNvSpPr>
            <a:spLocks noGrp="1"/>
          </p:cNvSpPr>
          <p:nvPr>
            <p:ph idx="1" hasCustomPrompt="1"/>
            <p:custDataLst>
              <p:tags r:id="rId2"/>
            </p:custDataLst>
          </p:nvPr>
        </p:nvSpPr>
        <p:spPr/>
        <p:txBody>
          <a:bodyPr/>
          <a:lstStyle>
            <a:lvl1pPr>
              <a:defRPr/>
            </a:lvl1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3">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ynopsys Title Slide">
    <p:spTree>
      <p:nvGrpSpPr>
        <p:cNvPr id="1" name=""/>
        <p:cNvGrpSpPr/>
        <p:nvPr/>
      </p:nvGrpSpPr>
      <p:grpSpPr>
        <a:xfrm>
          <a:off x="0" y="0"/>
          <a:ext cx="0" cy="0"/>
          <a:chOff x="0" y="0"/>
          <a:chExt cx="0" cy="0"/>
        </a:xfrm>
      </p:grpSpPr>
      <p:pic>
        <p:nvPicPr>
          <p:cNvPr id="12" name="Picture 11"/>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10233358" y="485435"/>
            <a:ext cx="1653211" cy="529027"/>
          </a:xfrm>
          <a:prstGeom prst="rect">
            <a:avLst/>
          </a:prstGeom>
        </p:spPr>
      </p:pic>
      <p:sp>
        <p:nvSpPr>
          <p:cNvPr id="8" name="Text Placeholder 15"/>
          <p:cNvSpPr>
            <a:spLocks noGrp="1"/>
          </p:cNvSpPr>
          <p:nvPr>
            <p:ph type="body" sz="quarter" idx="10" hasCustomPrompt="1"/>
            <p:custDataLst>
              <p:tags r:id="rId2"/>
            </p:custDataLst>
          </p:nvPr>
        </p:nvSpPr>
        <p:spPr>
          <a:xfrm>
            <a:off x="609600" y="4108495"/>
            <a:ext cx="10962523" cy="731520"/>
          </a:xfrm>
        </p:spPr>
        <p:txBody>
          <a:bodyPr anchor="b"/>
          <a:lstStyle>
            <a:lvl1pPr marL="0" indent="0" algn="l">
              <a:buNone/>
              <a:defRPr sz="20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dirty="0"/>
              <a:t>Presenter’s Name</a:t>
            </a:r>
          </a:p>
        </p:txBody>
      </p:sp>
      <p:sp>
        <p:nvSpPr>
          <p:cNvPr id="9" name="Text Placeholder 18"/>
          <p:cNvSpPr>
            <a:spLocks noGrp="1"/>
          </p:cNvSpPr>
          <p:nvPr>
            <p:ph type="body" sz="quarter" idx="11" hasCustomPrompt="1"/>
            <p:custDataLst>
              <p:tags r:id="rId3"/>
            </p:custDataLst>
          </p:nvPr>
        </p:nvSpPr>
        <p:spPr>
          <a:xfrm>
            <a:off x="609600" y="4861720"/>
            <a:ext cx="4876800" cy="396815"/>
          </a:xfrm>
        </p:spPr>
        <p:txBody>
          <a:bodyPr anchor="b"/>
          <a:lstStyle>
            <a:lvl1pPr algn="l">
              <a:buNone/>
              <a:defRPr sz="1800">
                <a:solidFill>
                  <a:schemeClr val="tx1"/>
                </a:solidFill>
                <a:effectLst/>
              </a:defRPr>
            </a:lvl1pPr>
          </a:lstStyle>
          <a:p>
            <a:pPr lvl="0"/>
            <a:r>
              <a:rPr lang="en-US" dirty="0"/>
              <a:t>Date</a:t>
            </a:r>
          </a:p>
        </p:txBody>
      </p:sp>
      <p:sp>
        <p:nvSpPr>
          <p:cNvPr id="21" name="Subtitle 2"/>
          <p:cNvSpPr>
            <a:spLocks noGrp="1"/>
          </p:cNvSpPr>
          <p:nvPr>
            <p:ph type="subTitle" idx="1" hasCustomPrompt="1"/>
            <p:custDataLst>
              <p:tags r:id="rId4"/>
            </p:custDataLst>
          </p:nvPr>
        </p:nvSpPr>
        <p:spPr>
          <a:xfrm>
            <a:off x="609600" y="3094851"/>
            <a:ext cx="10963923" cy="917516"/>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a Subtitle</a:t>
            </a:r>
          </a:p>
        </p:txBody>
      </p:sp>
      <p:sp>
        <p:nvSpPr>
          <p:cNvPr id="22" name="Title 1"/>
          <p:cNvSpPr>
            <a:spLocks noGrp="1"/>
          </p:cNvSpPr>
          <p:nvPr>
            <p:ph type="ctrTitle" hasCustomPrompt="1"/>
            <p:custDataLst>
              <p:tags r:id="rId5"/>
            </p:custDataLst>
          </p:nvPr>
        </p:nvSpPr>
        <p:spPr>
          <a:xfrm>
            <a:off x="609600" y="1895641"/>
            <a:ext cx="10972800" cy="1177506"/>
          </a:xfrm>
        </p:spPr>
        <p:txBody>
          <a:bodyPr anchor="b">
            <a:noAutofit/>
          </a:bodyPr>
          <a:lstStyle>
            <a:lvl1pPr algn="l">
              <a:defRPr sz="3600">
                <a:solidFill>
                  <a:schemeClr val="tx1"/>
                </a:solidFill>
                <a:effectLst/>
              </a:defRPr>
            </a:lvl1pPr>
          </a:lstStyle>
          <a:p>
            <a:r>
              <a:rPr lang="en-US" dirty="0"/>
              <a:t>Click to Add a Title</a:t>
            </a:r>
          </a:p>
        </p:txBody>
      </p:sp>
      <p:pic>
        <p:nvPicPr>
          <p:cNvPr id="11" name="Picture 10"/>
          <p:cNvPicPr>
            <a:picLocks noChangeAspect="1"/>
          </p:cNvPicPr>
          <p:nvPr>
            <p:custDataLst>
              <p:tags r:id="rId6"/>
            </p:custDataLst>
          </p:nvPr>
        </p:nvPicPr>
        <p:blipFill>
          <a:blip r:embed="rId9"/>
          <a:stretch>
            <a:fillRect/>
          </a:stretch>
        </p:blipFill>
        <p:spPr>
          <a:xfrm>
            <a:off x="0" y="4753502"/>
            <a:ext cx="12188952" cy="2104498"/>
          </a:xfrm>
          <a:prstGeom prst="rect">
            <a:avLst/>
          </a:prstGeom>
        </p:spPr>
      </p:pic>
    </p:spTree>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609600" y="609601"/>
            <a:ext cx="10972800" cy="452596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lang="en-US" b="1" dirty="0"/>
              <a:t>CONFIDENTIAL INFORMATION</a:t>
            </a:r>
          </a:p>
          <a:p>
            <a:pPr marL="0" indent="0">
              <a:buNone/>
            </a:pPr>
            <a:r>
              <a:rPr lang="en-US" dirty="0"/>
              <a:t>The following material is confidential information of Synopsys and is being disclosed to you pursuant to a non-disclosure agreement between you or your employer and Synopsys. The material being disclosed may only be used as permitted under such non-disclosure agreement. </a:t>
            </a:r>
          </a:p>
          <a:p>
            <a:pPr>
              <a:buNone/>
            </a:pPr>
            <a:r>
              <a:rPr lang="en-US" dirty="0"/>
              <a:t> </a:t>
            </a:r>
          </a:p>
          <a:p>
            <a:pPr>
              <a:buNone/>
            </a:pPr>
            <a:r>
              <a:rPr lang="en-US" b="1" dirty="0"/>
              <a:t>IMPORTANT NOTICE</a:t>
            </a:r>
          </a:p>
          <a:p>
            <a:pPr marL="0" indent="0">
              <a:buNone/>
            </a:pPr>
            <a:r>
              <a:rPr lang="en-US" dirty="0"/>
              <a:t>In the event information in this presentation reflects Synopsys’ future plans, such plans are as of the date of this presentation and are subject to change. Synopsys is not obligated to develop the software with the features and functionality discussed in these materials. In any event, Synopsys’ products may be offered and purchased only pursuant to an authorized quote and purchase order or a mutually agreed upon written contract.  </a:t>
            </a:r>
          </a:p>
          <a:p>
            <a:pPr>
              <a:buNone/>
            </a:pPr>
            <a:endParaRPr lang="en-US" dirty="0"/>
          </a:p>
        </p:txBody>
      </p:sp>
    </p:spTree>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3945">
          <p15:clr>
            <a:srgbClr val="5ACBF0"/>
          </p15:clr>
        </p15:guide>
        <p15:guide id="4" orient="horz" pos="372">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609600" y="68574"/>
            <a:ext cx="11582400" cy="1143000"/>
          </a:xfrm>
        </p:spPr>
        <p:txBody>
          <a:bodyPr/>
          <a:lstStyle/>
          <a:p>
            <a:r>
              <a:rPr lang="en-US" dirty="0"/>
              <a:t>Click to Add a Title</a:t>
            </a:r>
          </a:p>
        </p:txBody>
      </p:sp>
      <p:sp>
        <p:nvSpPr>
          <p:cNvPr id="3" name="Content Placeholder 2"/>
          <p:cNvSpPr>
            <a:spLocks noGrp="1"/>
          </p:cNvSpPr>
          <p:nvPr>
            <p:ph idx="1" hasCustomPrompt="1"/>
            <p:custDataLst>
              <p:tags r:id="rId2"/>
            </p:custDataLst>
          </p:nvPr>
        </p:nvSpPr>
        <p:spPr>
          <a:xfrm>
            <a:off x="609600" y="1414463"/>
            <a:ext cx="10972800" cy="4848225"/>
          </a:xfrm>
        </p:spPr>
        <p:txBody>
          <a:bodyPr vert="horz" lIns="91440" tIns="45720" rIns="91440" bIns="45720" rtlCol="0">
            <a:noAutofit/>
          </a:bodyPr>
          <a:lstStyle>
            <a:lvl1pPr>
              <a:defRPr baseline="0"/>
            </a:lvl1pPr>
            <a:lvl2pPr>
              <a:defRPr/>
            </a:lvl2pPr>
            <a:lvl3pPr>
              <a:defRPr/>
            </a:lvl3pPr>
            <a:lvl4pPr>
              <a:defRPr/>
            </a:lvl4pPr>
            <a:lvl5pPr>
              <a:defRPr/>
            </a:lvl5pPr>
            <a:lvl6pPr>
              <a:defRPr/>
            </a:lvl6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2" hasCustomPrompt="1"/>
            <p:custDataLst>
              <p:tags r:id="rId3"/>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7">
          <p15:clr>
            <a:srgbClr val="5ACBF0"/>
          </p15:clr>
        </p15:guide>
        <p15:guide id="5" orient="horz" pos="52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3" name="Picture 2"/>
          <p:cNvPicPr>
            <a:picLocks noChangeAspect="1"/>
          </p:cNvPicPr>
          <p:nvPr>
            <p:custDataLst>
              <p:tags r:id="rId1"/>
            </p:custDataLst>
          </p:nvPr>
        </p:nvPicPr>
        <p:blipFill>
          <a:blip r:embed="rId5">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bwMode="invGray">
          <a:xfrm>
            <a:off x="-9" y="1215389"/>
            <a:ext cx="12192357" cy="1295438"/>
          </a:xfrm>
          <a:prstGeom prst="rect">
            <a:avLst/>
          </a:prstGeom>
        </p:spPr>
      </p:pic>
      <p:sp>
        <p:nvSpPr>
          <p:cNvPr id="2" name="Title 1"/>
          <p:cNvSpPr>
            <a:spLocks noGrp="1"/>
          </p:cNvSpPr>
          <p:nvPr>
            <p:ph type="title"/>
            <p:custDataLst>
              <p:tags r:id="rId2"/>
            </p:custDataLst>
          </p:nvPr>
        </p:nvSpPr>
        <p:spPr>
          <a:xfrm>
            <a:off x="609600" y="1295400"/>
            <a:ext cx="11582400" cy="1143000"/>
          </a:xfrm>
        </p:spPr>
        <p:txBody>
          <a:bodyPr/>
          <a:lstStyle>
            <a:lvl1pPr>
              <a:defRPr>
                <a:solidFill>
                  <a:srgbClr val="FFFFFF"/>
                </a:solidFill>
                <a:effectLst>
                  <a:outerShdw blurRad="38100" dist="38100" dir="2700000" algn="tl">
                    <a:srgbClr val="000000">
                      <a:alpha val="43137"/>
                    </a:srgbClr>
                  </a:outerShdw>
                </a:effectLst>
              </a:defRPr>
            </a:lvl1pPr>
          </a:lstStyle>
          <a:p>
            <a:r>
              <a:rPr lang="en-US"/>
              <a:t>Click to edit Master title style</a:t>
            </a:r>
            <a:endParaRPr lang="en-US" dirty="0"/>
          </a:p>
        </p:txBody>
      </p:sp>
      <p:sp>
        <p:nvSpPr>
          <p:cNvPr id="7" name="Text Placeholder 6"/>
          <p:cNvSpPr>
            <a:spLocks noGrp="1"/>
          </p:cNvSpPr>
          <p:nvPr>
            <p:ph type="body" sz="quarter" idx="10" hasCustomPrompt="1"/>
            <p:custDataLst>
              <p:tags r:id="rId3"/>
            </p:custDataLst>
          </p:nvPr>
        </p:nvSpPr>
        <p:spPr>
          <a:xfrm>
            <a:off x="1524000" y="2688610"/>
            <a:ext cx="10058400" cy="3559791"/>
          </a:xfrm>
        </p:spPr>
        <p:txBody>
          <a:bodyPr/>
          <a:lstStyle>
            <a:lvl1pPr>
              <a:spcBef>
                <a:spcPts val="1867"/>
              </a:spcBef>
              <a:spcAft>
                <a:spcPts val="0"/>
              </a:spcAft>
              <a:buFontTx/>
              <a:buNone/>
              <a:defRPr baseline="0"/>
            </a:lvl1pPr>
            <a:lvl2pPr>
              <a:buFontTx/>
              <a:buNone/>
              <a:defRPr/>
            </a:lvl2pPr>
            <a:lvl3pPr>
              <a:buFontTx/>
              <a:buNone/>
              <a:defRPr/>
            </a:lvl3pPr>
            <a:lvl4pPr>
              <a:buFontTx/>
              <a:buNone/>
              <a:defRPr/>
            </a:lvl4pPr>
            <a:lvl5pPr>
              <a:buFontTx/>
              <a:buNone/>
              <a:defRPr/>
            </a:lvl5pPr>
          </a:lstStyle>
          <a:p>
            <a:pPr lvl="0"/>
            <a:r>
              <a:rPr lang="en-US" dirty="0"/>
              <a:t>Click to add agenda topics --- no bullets here</a:t>
            </a:r>
          </a:p>
        </p:txBody>
      </p:sp>
    </p:spTree>
  </p:cSld>
  <p:clrMapOvr>
    <a:masterClrMapping/>
  </p:clrMapOvr>
  <p:extLst mod="1">
    <p:ext uri="{DCECCB84-F9BA-43D5-87BE-67443E8EF086}">
      <p15:sldGuideLst xmlns:p15="http://schemas.microsoft.com/office/powerpoint/2012/main">
        <p15:guide id="1" orient="horz" pos="1693">
          <p15:clr>
            <a:srgbClr val="5ACBF0"/>
          </p15:clr>
        </p15:guide>
        <p15:guide id="2" pos="960">
          <p15:clr>
            <a:srgbClr val="5ACBF0"/>
          </p15:clr>
        </p15:guide>
        <p15:guide id="3" pos="7296">
          <p15:clr>
            <a:srgbClr val="5ACBF0"/>
          </p15:clr>
        </p15:guide>
        <p15:guide id="4" orient="horz" pos="3945">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p:cNvPicPr>
            <a:picLocks noChangeAspect="1"/>
          </p:cNvPicPr>
          <p:nvPr>
            <p:custDataLst>
              <p:tags r:id="rId1"/>
            </p:custDataLst>
          </p:nvPr>
        </p:nvPicPr>
        <p:blipFill>
          <a:blip r:embed="rId5">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bwMode="invGray">
          <a:xfrm>
            <a:off x="-1" y="2021760"/>
            <a:ext cx="12192005" cy="2540001"/>
          </a:xfrm>
          <a:prstGeom prst="rect">
            <a:avLst/>
          </a:prstGeom>
        </p:spPr>
      </p:pic>
      <p:sp>
        <p:nvSpPr>
          <p:cNvPr id="2" name="Title 1"/>
          <p:cNvSpPr>
            <a:spLocks noGrp="1"/>
          </p:cNvSpPr>
          <p:nvPr>
            <p:ph type="title" hasCustomPrompt="1"/>
            <p:custDataLst>
              <p:tags r:id="rId2"/>
            </p:custDataLst>
          </p:nvPr>
        </p:nvSpPr>
        <p:spPr>
          <a:xfrm>
            <a:off x="609601" y="2010333"/>
            <a:ext cx="10384465" cy="1253863"/>
          </a:xfrm>
        </p:spPr>
        <p:txBody>
          <a:bodyPr anchor="b">
            <a:normAutofit/>
          </a:bodyPr>
          <a:lstStyle>
            <a:lvl1pPr>
              <a:defRPr sz="3400">
                <a:solidFill>
                  <a:srgbClr val="FFFFFF"/>
                </a:solidFill>
                <a:effectLst>
                  <a:outerShdw blurRad="38100" dist="38100" dir="2700000" algn="tl">
                    <a:srgbClr val="000000">
                      <a:alpha val="43137"/>
                    </a:srgbClr>
                  </a:outerShdw>
                </a:effectLst>
              </a:defRPr>
            </a:lvl1pPr>
          </a:lstStyle>
          <a:p>
            <a:r>
              <a:rPr lang="en-US" dirty="0"/>
              <a:t>Click to Add a Title – Transition Slide</a:t>
            </a:r>
          </a:p>
        </p:txBody>
      </p:sp>
      <p:sp>
        <p:nvSpPr>
          <p:cNvPr id="3" name="Text Placeholder 2"/>
          <p:cNvSpPr>
            <a:spLocks noGrp="1"/>
          </p:cNvSpPr>
          <p:nvPr>
            <p:ph type="body" idx="1"/>
            <p:custDataLst>
              <p:tags r:id="rId3"/>
            </p:custDataLst>
          </p:nvPr>
        </p:nvSpPr>
        <p:spPr>
          <a:xfrm>
            <a:off x="609601" y="3430818"/>
            <a:ext cx="10384465" cy="1119515"/>
          </a:xfrm>
        </p:spPr>
        <p:txBody>
          <a:bodyPr/>
          <a:lstStyle>
            <a:lvl1pPr marL="0" indent="0">
              <a:buNone/>
              <a:defRPr sz="2400" i="1">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cSld>
  <p:clrMapOvr>
    <a:masterClrMapping/>
  </p:clrMapOvr>
  <p:extLst mod="1">
    <p:ext uri="{DCECCB84-F9BA-43D5-87BE-67443E8EF086}">
      <p15:sldGuideLst xmlns:p15="http://schemas.microsoft.com/office/powerpoint/2012/main">
        <p15:guide id="1" pos="384">
          <p15:clr>
            <a:srgbClr val="5ACBF0"/>
          </p15:clr>
        </p15:guide>
        <p15:guide id="2" pos="6936">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dirty="0"/>
              <a:t>Click to Add a Title</a:t>
            </a:r>
          </a:p>
        </p:txBody>
      </p:sp>
      <p:sp>
        <p:nvSpPr>
          <p:cNvPr id="3" name="Content Placeholder 2"/>
          <p:cNvSpPr>
            <a:spLocks noGrp="1"/>
          </p:cNvSpPr>
          <p:nvPr>
            <p:ph sz="half" idx="1" hasCustomPrompt="1"/>
            <p:custDataLst>
              <p:tags r:id="rId2"/>
            </p:custDataLst>
          </p:nvPr>
        </p:nvSpPr>
        <p:spPr>
          <a:xfrm>
            <a:off x="609600" y="1414463"/>
            <a:ext cx="5384800" cy="4848225"/>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custDataLst>
              <p:tags r:id="rId3"/>
            </p:custDataLst>
          </p:nvPr>
        </p:nvSpPr>
        <p:spPr>
          <a:xfrm>
            <a:off x="6197600" y="1414463"/>
            <a:ext cx="5384800" cy="4848225"/>
          </a:xfrm>
        </p:spPr>
        <p:txBody>
          <a:bodyPr vert="horz" lIns="91440" tIns="45720" rIns="91440" bIns="45720" rtlCol="0">
            <a:noAutofit/>
          </a:bodyPr>
          <a:lstStyle>
            <a:lvl1pPr>
              <a:defRPr/>
            </a:lvl1pPr>
            <a:lvl2pPr>
              <a:defRPr/>
            </a:lvl2pPr>
            <a:lvl3pPr>
              <a:defRPr/>
            </a:lvl3pPr>
            <a:lvl4pPr>
              <a:defRPr baseline="0"/>
            </a:lvl4pPr>
            <a:lvl5pPr>
              <a:defRPr baseline="0"/>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custDataLst>
              <p:tags r:id="rId4"/>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cSld>
  <p:clrMapOvr>
    <a:overrideClrMapping bg1="lt1" tx1="dk1" bg2="lt2" tx2="dk2" accent1="accent1" accent2="accent2" accent3="accent3" accent4="accent4" accent5="accent5" accent6="accent6" hlink="hlink" folHlink="folHlink"/>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5">
          <p15:clr>
            <a:srgbClr val="5ACBF0"/>
          </p15:clr>
        </p15:guide>
        <p15:guide id="5" orient="horz" pos="52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3945">
          <p15:clr>
            <a:srgbClr val="5ACBF0"/>
          </p15:clr>
        </p15:guide>
        <p15:guide id="4" orient="horz" pos="37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ntent Subtitle">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endParaRPr lang="en-US" dirty="0"/>
          </a:p>
        </p:txBody>
      </p:sp>
      <p:sp>
        <p:nvSpPr>
          <p:cNvPr id="5" name="Content Placeholder 4"/>
          <p:cNvSpPr>
            <a:spLocks noGrp="1"/>
          </p:cNvSpPr>
          <p:nvPr>
            <p:ph sz="quarter" idx="11" hasCustomPrompt="1"/>
            <p:custDataLst>
              <p:tags r:id="rId2"/>
            </p:custDataLst>
          </p:nvPr>
        </p:nvSpPr>
        <p:spPr>
          <a:xfrm>
            <a:off x="609600" y="1414730"/>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2" hasCustomPrompt="1"/>
            <p:custDataLst>
              <p:tags r:id="rId3"/>
            </p:custDataLst>
          </p:nvPr>
        </p:nvSpPr>
        <p:spPr>
          <a:xfrm>
            <a:off x="6197600" y="1414730"/>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p:cNvSpPr>
            <a:spLocks noGrp="1"/>
          </p:cNvSpPr>
          <p:nvPr>
            <p:ph sz="quarter" idx="13" hasCustomPrompt="1"/>
            <p:custDataLst>
              <p:tags r:id="rId4"/>
            </p:custDataLst>
          </p:nvPr>
        </p:nvSpPr>
        <p:spPr>
          <a:xfrm>
            <a:off x="609600" y="3965268"/>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14" hasCustomPrompt="1"/>
            <p:custDataLst>
              <p:tags r:id="rId5"/>
            </p:custDataLst>
          </p:nvPr>
        </p:nvSpPr>
        <p:spPr>
          <a:xfrm>
            <a:off x="6197600" y="3965268"/>
            <a:ext cx="5376672" cy="2377440"/>
          </a:xfrm>
        </p:spPr>
        <p:txBody>
          <a:bodyPr/>
          <a:lstStyle>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6"/>
          <p:cNvSpPr>
            <a:spLocks noGrp="1"/>
          </p:cNvSpPr>
          <p:nvPr>
            <p:ph type="body" sz="quarter" idx="15" hasCustomPrompt="1"/>
            <p:custDataLst>
              <p:tags r:id="rId6"/>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4003">
          <p15:clr>
            <a:srgbClr val="5ACBF0"/>
          </p15:clr>
        </p15:guide>
        <p15:guide id="5" orient="horz" pos="52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Gray Bar">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0" y="1311214"/>
            <a:ext cx="12192000" cy="50932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609600" y="68332"/>
            <a:ext cx="11582400" cy="1143000"/>
          </a:xfrm>
        </p:spPr>
        <p:txBody>
          <a:bodyPr/>
          <a:lstStyle>
            <a:lvl1pPr>
              <a:defRPr/>
            </a:lvl1pPr>
          </a:lstStyle>
          <a:p>
            <a:r>
              <a:rPr lang="en-US" dirty="0"/>
              <a:t>Click to Add a Title</a:t>
            </a:r>
          </a:p>
        </p:txBody>
      </p:sp>
      <p:sp>
        <p:nvSpPr>
          <p:cNvPr id="5" name="Content Placeholder 8"/>
          <p:cNvSpPr>
            <a:spLocks noGrp="1"/>
          </p:cNvSpPr>
          <p:nvPr>
            <p:ph sz="quarter" idx="10" hasCustomPrompt="1"/>
            <p:custDataLst>
              <p:tags r:id="rId3"/>
            </p:custDataLst>
          </p:nvPr>
        </p:nvSpPr>
        <p:spPr>
          <a:xfrm>
            <a:off x="609600" y="1417319"/>
            <a:ext cx="10972800" cy="4846320"/>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custDataLst>
              <p:tags r:id="rId4"/>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cSld>
  <p:clrMapOvr>
    <a:masterClrMapping/>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5">
          <p15:clr>
            <a:srgbClr val="5ACBF0"/>
          </p15:clr>
        </p15:guide>
        <p15:guide id="5" orient="horz" pos="52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Gray">
    <p:bg>
      <p:bgRef idx="1001">
        <a:schemeClr val="bg1"/>
      </p:bgRef>
    </p:bg>
    <p:spTree>
      <p:nvGrpSpPr>
        <p:cNvPr id="1" name=""/>
        <p:cNvGrpSpPr/>
        <p:nvPr/>
      </p:nvGrpSpPr>
      <p:grpSpPr>
        <a:xfrm>
          <a:off x="0" y="0"/>
          <a:ext cx="0" cy="0"/>
          <a:chOff x="0" y="0"/>
          <a:chExt cx="0" cy="0"/>
        </a:xfrm>
      </p:grpSpPr>
      <p:sp>
        <p:nvSpPr>
          <p:cNvPr id="7" name="Rectangle 6"/>
          <p:cNvSpPr/>
          <p:nvPr>
            <p:custDataLst>
              <p:tags r:id="rId1"/>
            </p:custDataLst>
          </p:nvPr>
        </p:nvSpPr>
        <p:spPr bwMode="ltGray">
          <a:xfrm>
            <a:off x="0" y="1311214"/>
            <a:ext cx="12192000" cy="50932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custDataLst>
              <p:tags r:id="rId2"/>
            </p:custDataLst>
          </p:nvPr>
        </p:nvSpPr>
        <p:spPr/>
        <p:txBody>
          <a:bodyPr/>
          <a:lstStyle/>
          <a:p>
            <a:r>
              <a:rPr lang="en-US" dirty="0"/>
              <a:t>Click to Add a Title</a:t>
            </a:r>
          </a:p>
        </p:txBody>
      </p:sp>
      <p:sp>
        <p:nvSpPr>
          <p:cNvPr id="3" name="Content Placeholder 2"/>
          <p:cNvSpPr>
            <a:spLocks noGrp="1"/>
          </p:cNvSpPr>
          <p:nvPr>
            <p:ph sz="half" idx="1" hasCustomPrompt="1"/>
            <p:custDataLst>
              <p:tags r:id="rId3"/>
            </p:custDataLst>
          </p:nvPr>
        </p:nvSpPr>
        <p:spPr>
          <a:xfrm>
            <a:off x="609600" y="1417320"/>
            <a:ext cx="5384800" cy="4846320"/>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custDataLst>
              <p:tags r:id="rId4"/>
            </p:custDataLst>
          </p:nvPr>
        </p:nvSpPr>
        <p:spPr>
          <a:xfrm>
            <a:off x="6197600" y="1417320"/>
            <a:ext cx="5384800" cy="4846320"/>
          </a:xfrm>
        </p:spPr>
        <p:txBody>
          <a:bodyPr vert="horz" lIns="91440" tIns="45720" rIns="91440" bIns="45720" rtlCol="0">
            <a:noAutofit/>
          </a:bodyPr>
          <a:lstStyle>
            <a:lvl1pPr>
              <a:defRPr/>
            </a:lvl1pPr>
            <a:lvl2pPr>
              <a:defRPr/>
            </a:lvl2pPr>
            <a:lvl3pPr>
              <a:defRPr/>
            </a:lvl3pPr>
            <a:lvl4pPr>
              <a:defRPr/>
            </a:lvl4pPr>
            <a:lvl5pPr>
              <a:defRPr/>
            </a:lvl5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custDataLst>
              <p:tags r:id="rId5"/>
            </p:custDataLst>
          </p:nvPr>
        </p:nvSpPr>
        <p:spPr>
          <a:xfrm>
            <a:off x="609600" y="838200"/>
            <a:ext cx="11582400" cy="457200"/>
          </a:xfrm>
        </p:spPr>
        <p:txBody>
          <a:bodyPr/>
          <a:lstStyle>
            <a:lvl1pPr marL="0" indent="0">
              <a:buNone/>
              <a:defRPr sz="2000" i="1"/>
            </a:lvl1pPr>
          </a:lstStyle>
          <a:p>
            <a:pPr lvl="0"/>
            <a:r>
              <a:rPr lang="en-US" dirty="0"/>
              <a:t>Click to Add a Subtitle</a:t>
            </a:r>
          </a:p>
        </p:txBody>
      </p:sp>
    </p:spTree>
  </p:cSld>
  <p:clrMapOvr>
    <a:overrideClrMapping bg1="lt1" tx1="dk1" bg2="lt2" tx2="dk2" accent1="accent1" accent2="accent2" accent3="accent3" accent4="accent4" accent5="accent5" accent6="accent6" hlink="hlink" folHlink="folHlink"/>
  </p:clrMapOvr>
  <p:extLst mod="1">
    <p:ext uri="{DCECCB84-F9BA-43D5-87BE-67443E8EF086}">
      <p15:sldGuideLst xmlns:p15="http://schemas.microsoft.com/office/powerpoint/2012/main">
        <p15:guide id="1" pos="384">
          <p15:clr>
            <a:srgbClr val="5ACBF0"/>
          </p15:clr>
        </p15:guide>
        <p15:guide id="2" pos="7296">
          <p15:clr>
            <a:srgbClr val="5ACBF0"/>
          </p15:clr>
        </p15:guide>
        <p15:guide id="3" orient="horz" pos="888">
          <p15:clr>
            <a:srgbClr val="5ACBF0"/>
          </p15:clr>
        </p15:guide>
        <p15:guide id="4" orient="horz" pos="3945">
          <p15:clr>
            <a:srgbClr val="5ACBF0"/>
          </p15:clr>
        </p15:guide>
        <p15:guide id="5" orient="horz" pos="52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alf Gray">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dirty="0"/>
              <a:t>Click to Add a Title</a:t>
            </a:r>
          </a:p>
        </p:txBody>
      </p:sp>
      <p:sp>
        <p:nvSpPr>
          <p:cNvPr id="4" name="Text Placeholder 6"/>
          <p:cNvSpPr>
            <a:spLocks noGrp="1"/>
          </p:cNvSpPr>
          <p:nvPr>
            <p:ph type="body" sz="quarter" idx="12" hasCustomPrompt="1"/>
            <p:custDataLst>
              <p:tags r:id="rId2"/>
            </p:custDataLst>
          </p:nvPr>
        </p:nvSpPr>
        <p:spPr>
          <a:xfrm>
            <a:off x="609600" y="838200"/>
            <a:ext cx="11582400" cy="457200"/>
          </a:xfrm>
        </p:spPr>
        <p:txBody>
          <a:bodyPr/>
          <a:lstStyle>
            <a:lvl1pPr marL="0" indent="0">
              <a:buNone/>
              <a:defRPr sz="2000" i="1"/>
            </a:lvl1pPr>
          </a:lstStyle>
          <a:p>
            <a:pPr lvl="0"/>
            <a:r>
              <a:rPr lang="en-US" dirty="0"/>
              <a:t>Click to Add a Subtitle</a:t>
            </a:r>
          </a:p>
        </p:txBody>
      </p:sp>
      <p:sp>
        <p:nvSpPr>
          <p:cNvPr id="7" name="Rectangle 6"/>
          <p:cNvSpPr/>
          <p:nvPr>
            <p:custDataLst>
              <p:tags r:id="rId3"/>
            </p:custDataLst>
          </p:nvPr>
        </p:nvSpPr>
        <p:spPr bwMode="ltGray">
          <a:xfrm>
            <a:off x="0" y="3959188"/>
            <a:ext cx="12192000" cy="24416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Content Placeholder 7"/>
          <p:cNvSpPr>
            <a:spLocks noGrp="1"/>
          </p:cNvSpPr>
          <p:nvPr>
            <p:ph sz="quarter" idx="13" hasCustomPrompt="1"/>
            <p:custDataLst>
              <p:tags r:id="rId4"/>
            </p:custDataLst>
          </p:nvPr>
        </p:nvSpPr>
        <p:spPr>
          <a:xfrm>
            <a:off x="609599" y="1417320"/>
            <a:ext cx="10972800" cy="4846320"/>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p:txBody>
      </p:sp>
    </p:spTree>
  </p:cSld>
  <p:clrMapOvr>
    <a:masterClrMapping/>
  </p:clrMapOvr>
  <p:extLst mod="1">
    <p:ext uri="{DCECCB84-F9BA-43D5-87BE-67443E8EF086}">
      <p15:sldGuideLst xmlns:p15="http://schemas.microsoft.com/office/powerpoint/2012/main">
        <p15:guide id="1" orient="horz" pos="528">
          <p15:clr>
            <a:srgbClr val="5ACBF0"/>
          </p15:clr>
        </p15:guide>
        <p15:guide id="2" orient="horz" pos="888">
          <p15:clr>
            <a:srgbClr val="5ACBF0"/>
          </p15:clr>
        </p15:guide>
        <p15:guide id="3" orient="horz" pos="3948">
          <p15:clr>
            <a:srgbClr val="5ACBF0"/>
          </p15:clr>
        </p15:guide>
        <p15:guide id="4" pos="384">
          <p15:clr>
            <a:srgbClr val="5ACBF0"/>
          </p15:clr>
        </p15:guide>
        <p15:guide id="5" pos="729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Gray Bar_1">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3197523" y="0"/>
            <a:ext cx="8994476" cy="6400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3519488" y="57150"/>
            <a:ext cx="8672511" cy="1143000"/>
          </a:xfrm>
        </p:spPr>
        <p:txBody>
          <a:bodyPr/>
          <a:lstStyle>
            <a:lvl1pPr algn="l">
              <a:defRPr/>
            </a:lvl1pPr>
          </a:lstStyle>
          <a:p>
            <a:r>
              <a:rPr lang="en-US" dirty="0"/>
              <a:t>Click to Add a Title</a:t>
            </a:r>
          </a:p>
        </p:txBody>
      </p:sp>
      <p:sp>
        <p:nvSpPr>
          <p:cNvPr id="5" name="Content Placeholder 5"/>
          <p:cNvSpPr>
            <a:spLocks noGrp="1"/>
          </p:cNvSpPr>
          <p:nvPr>
            <p:ph sz="quarter" idx="10" hasCustomPrompt="1"/>
            <p:custDataLst>
              <p:tags r:id="rId3"/>
            </p:custDataLst>
          </p:nvPr>
        </p:nvSpPr>
        <p:spPr>
          <a:xfrm>
            <a:off x="322054" y="370937"/>
            <a:ext cx="2587924" cy="5877463"/>
          </a:xfrm>
        </p:spPr>
        <p:txBody>
          <a:bodyPr/>
          <a:lstStyle>
            <a:lvl1pPr marL="0" indent="0">
              <a:buFontTx/>
              <a:buNone/>
              <a:defRPr sz="2000"/>
            </a:lvl1pPr>
            <a:lvl2pPr>
              <a:buFontTx/>
              <a:buNone/>
              <a:defRPr/>
            </a:lvl2pPr>
            <a:lvl3pPr>
              <a:buFontTx/>
              <a:buNone/>
              <a:defRPr/>
            </a:lvl3pPr>
          </a:lstStyle>
          <a:p>
            <a:pPr lvl="0"/>
            <a:r>
              <a:rPr lang="en-US" dirty="0"/>
              <a:t>Click to add text or choose an icon below to insert other content</a:t>
            </a:r>
          </a:p>
        </p:txBody>
      </p:sp>
      <p:sp>
        <p:nvSpPr>
          <p:cNvPr id="6" name="Content Placeholder 7"/>
          <p:cNvSpPr>
            <a:spLocks noGrp="1"/>
          </p:cNvSpPr>
          <p:nvPr>
            <p:ph sz="quarter" idx="11" hasCustomPrompt="1"/>
            <p:custDataLst>
              <p:tags r:id="rId4"/>
            </p:custDataLst>
          </p:nvPr>
        </p:nvSpPr>
        <p:spPr>
          <a:xfrm>
            <a:off x="3519578" y="1414463"/>
            <a:ext cx="8367623" cy="4846320"/>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p:txBody>
      </p:sp>
      <p:sp>
        <p:nvSpPr>
          <p:cNvPr id="7" name="Text Placeholder 6"/>
          <p:cNvSpPr>
            <a:spLocks noGrp="1"/>
          </p:cNvSpPr>
          <p:nvPr>
            <p:ph type="body" sz="quarter" idx="12" hasCustomPrompt="1"/>
            <p:custDataLst>
              <p:tags r:id="rId5"/>
            </p:custDataLst>
          </p:nvPr>
        </p:nvSpPr>
        <p:spPr>
          <a:xfrm>
            <a:off x="3519488" y="838200"/>
            <a:ext cx="8672511" cy="457200"/>
          </a:xfrm>
        </p:spPr>
        <p:txBody>
          <a:bodyPr/>
          <a:lstStyle>
            <a:lvl1pPr marL="0" indent="0">
              <a:buNone/>
              <a:defRPr sz="2000" i="1"/>
            </a:lvl1pPr>
          </a:lstStyle>
          <a:p>
            <a:pPr lvl="0"/>
            <a:r>
              <a:rPr lang="en-US" dirty="0"/>
              <a:t>Click to Add a Subtitle</a:t>
            </a:r>
          </a:p>
        </p:txBody>
      </p:sp>
    </p:spTree>
  </p:cSld>
  <p:clrMapOvr>
    <a:masterClrMapping/>
  </p:clrMapOvr>
  <p:extLst mod="1">
    <p:ext uri="{DCECCB84-F9BA-43D5-87BE-67443E8EF086}">
      <p15:sldGuideLst xmlns:p15="http://schemas.microsoft.com/office/powerpoint/2012/main">
        <p15:guide id="1" pos="2217">
          <p15:clr>
            <a:srgbClr val="5ACBF0"/>
          </p15:clr>
        </p15:guide>
        <p15:guide id="2" pos="7488">
          <p15:clr>
            <a:srgbClr val="5ACBF0"/>
          </p15:clr>
        </p15:guide>
        <p15:guide id="3" orient="horz" pos="528">
          <p15:clr>
            <a:srgbClr val="5ACBF0"/>
          </p15:clr>
        </p15:guide>
        <p15:guide id="4" orient="horz" pos="888">
          <p15:clr>
            <a:srgbClr val="5ACBF0"/>
          </p15:clr>
        </p15:guide>
        <p15:guide id="5" orient="horz" pos="3945">
          <p15:clr>
            <a:srgbClr val="5ACBF0"/>
          </p15:clr>
        </p15:guide>
        <p15:guide id="6" orient="horz" pos="233">
          <p15:clr>
            <a:srgbClr val="5ACBF0"/>
          </p15:clr>
        </p15:guide>
        <p15:guide id="7" pos="203">
          <p15:clr>
            <a:srgbClr val="5ACBF0"/>
          </p15:clr>
        </p15:guide>
        <p15:guide id="8" pos="1835">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Gray Bar_2">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8534400" y="0"/>
            <a:ext cx="3657600" cy="6400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609600" y="65776"/>
            <a:ext cx="7620000" cy="1143000"/>
          </a:xfrm>
        </p:spPr>
        <p:txBody>
          <a:bodyPr/>
          <a:lstStyle>
            <a:lvl1pPr algn="l">
              <a:defRPr/>
            </a:lvl1pPr>
          </a:lstStyle>
          <a:p>
            <a:r>
              <a:rPr lang="en-US" dirty="0"/>
              <a:t>Click to Add a Title</a:t>
            </a:r>
          </a:p>
        </p:txBody>
      </p:sp>
      <p:sp>
        <p:nvSpPr>
          <p:cNvPr id="5" name="Content Placeholder 5"/>
          <p:cNvSpPr>
            <a:spLocks noGrp="1"/>
          </p:cNvSpPr>
          <p:nvPr>
            <p:ph sz="quarter" idx="10" hasCustomPrompt="1"/>
            <p:custDataLst>
              <p:tags r:id="rId3"/>
            </p:custDataLst>
          </p:nvPr>
        </p:nvSpPr>
        <p:spPr>
          <a:xfrm>
            <a:off x="609600" y="1414462"/>
            <a:ext cx="7620000" cy="4846637"/>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p:txBody>
      </p:sp>
      <p:sp>
        <p:nvSpPr>
          <p:cNvPr id="6" name="Content Placeholder 7"/>
          <p:cNvSpPr>
            <a:spLocks noGrp="1"/>
          </p:cNvSpPr>
          <p:nvPr>
            <p:ph sz="quarter" idx="11" hasCustomPrompt="1"/>
            <p:custDataLst>
              <p:tags r:id="rId4"/>
            </p:custDataLst>
          </p:nvPr>
        </p:nvSpPr>
        <p:spPr>
          <a:xfrm>
            <a:off x="8737600" y="228600"/>
            <a:ext cx="3251200" cy="6019800"/>
          </a:xfrm>
        </p:spPr>
        <p:txBody>
          <a:bodyPr/>
          <a:lstStyle>
            <a:lvl1pPr marL="0" indent="0">
              <a:buNone/>
              <a:defRPr sz="2000"/>
            </a:lvl1pPr>
            <a:lvl2pPr marL="0" indent="0">
              <a:buNone/>
              <a:defRPr/>
            </a:lvl2pPr>
            <a:lvl3pPr marL="0" indent="0">
              <a:buNone/>
              <a:defRPr/>
            </a:lvl3pPr>
          </a:lstStyle>
          <a:p>
            <a:pPr lvl="0"/>
            <a:r>
              <a:rPr lang="en-US" dirty="0"/>
              <a:t>Click to add text or choose an icon below to insert other content</a:t>
            </a:r>
          </a:p>
        </p:txBody>
      </p:sp>
      <p:sp>
        <p:nvSpPr>
          <p:cNvPr id="7" name="Text Placeholder 6"/>
          <p:cNvSpPr>
            <a:spLocks noGrp="1"/>
          </p:cNvSpPr>
          <p:nvPr>
            <p:ph type="body" sz="quarter" idx="12" hasCustomPrompt="1"/>
            <p:custDataLst>
              <p:tags r:id="rId5"/>
            </p:custDataLst>
          </p:nvPr>
        </p:nvSpPr>
        <p:spPr>
          <a:xfrm>
            <a:off x="609601" y="838200"/>
            <a:ext cx="7625751" cy="457200"/>
          </a:xfrm>
        </p:spPr>
        <p:txBody>
          <a:bodyPr/>
          <a:lstStyle>
            <a:lvl1pPr marL="0" indent="0">
              <a:buNone/>
              <a:defRPr sz="2000" i="1"/>
            </a:lvl1pPr>
          </a:lstStyle>
          <a:p>
            <a:pPr lvl="0"/>
            <a:r>
              <a:rPr lang="en-US" dirty="0"/>
              <a:t>Click to Add a Subtitle</a:t>
            </a:r>
          </a:p>
        </p:txBody>
      </p:sp>
    </p:spTree>
  </p:cSld>
  <p:clrMapOvr>
    <a:masterClrMapping/>
  </p:clrMapOvr>
  <p:extLst mod="1">
    <p:ext uri="{DCECCB84-F9BA-43D5-87BE-67443E8EF086}">
      <p15:sldGuideLst xmlns:p15="http://schemas.microsoft.com/office/powerpoint/2012/main">
        <p15:guide id="1" pos="384">
          <p15:clr>
            <a:srgbClr val="5ACBF0"/>
          </p15:clr>
        </p15:guide>
        <p15:guide id="2" pos="5184">
          <p15:clr>
            <a:srgbClr val="5ACBF0"/>
          </p15:clr>
        </p15:guide>
        <p15:guide id="3" orient="horz" pos="3944">
          <p15:clr>
            <a:srgbClr val="5ACBF0"/>
          </p15:clr>
        </p15:guide>
        <p15:guide id="4" orient="horz" pos="888">
          <p15:clr>
            <a:srgbClr val="5ACBF0"/>
          </p15:clr>
        </p15:guide>
        <p15:guide id="5" orient="horz" pos="528">
          <p15:clr>
            <a:srgbClr val="5ACBF0"/>
          </p15:clr>
        </p15:guide>
        <p15:guide id="6" orient="horz" pos="144">
          <p15:clr>
            <a:srgbClr val="5ACBF0"/>
          </p15:clr>
        </p15:guide>
        <p15:guide id="7" pos="5503">
          <p15:clr>
            <a:srgbClr val="5ACBF0"/>
          </p15:clr>
        </p15:guide>
        <p15:guide id="8" pos="756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 Left Gray Bar">
    <p:spTree>
      <p:nvGrpSpPr>
        <p:cNvPr id="1" name=""/>
        <p:cNvGrpSpPr/>
        <p:nvPr/>
      </p:nvGrpSpPr>
      <p:grpSpPr>
        <a:xfrm>
          <a:off x="0" y="0"/>
          <a:ext cx="0" cy="0"/>
          <a:chOff x="0" y="0"/>
          <a:chExt cx="0" cy="0"/>
        </a:xfrm>
      </p:grpSpPr>
      <p:sp>
        <p:nvSpPr>
          <p:cNvPr id="3" name="Rectangle 2"/>
          <p:cNvSpPr/>
          <p:nvPr>
            <p:custDataLst>
              <p:tags r:id="rId1"/>
            </p:custDataLst>
          </p:nvPr>
        </p:nvSpPr>
        <p:spPr bwMode="ltGray">
          <a:xfrm>
            <a:off x="0" y="0"/>
            <a:ext cx="4145280" cy="6400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1"/>
          <p:cNvSpPr>
            <a:spLocks noGrp="1"/>
          </p:cNvSpPr>
          <p:nvPr>
            <p:ph type="title" hasCustomPrompt="1"/>
            <p:custDataLst>
              <p:tags r:id="rId2"/>
            </p:custDataLst>
          </p:nvPr>
        </p:nvSpPr>
        <p:spPr>
          <a:xfrm>
            <a:off x="4449234" y="65776"/>
            <a:ext cx="7742767" cy="1143000"/>
          </a:xfrm>
        </p:spPr>
        <p:txBody>
          <a:bodyPr/>
          <a:lstStyle>
            <a:lvl1pPr algn="l">
              <a:defRPr/>
            </a:lvl1pPr>
          </a:lstStyle>
          <a:p>
            <a:r>
              <a:rPr lang="en-US" dirty="0"/>
              <a:t>Click to Add a Title</a:t>
            </a:r>
          </a:p>
        </p:txBody>
      </p:sp>
      <p:sp>
        <p:nvSpPr>
          <p:cNvPr id="5" name="Content Placeholder 5"/>
          <p:cNvSpPr>
            <a:spLocks noGrp="1"/>
          </p:cNvSpPr>
          <p:nvPr>
            <p:ph sz="quarter" idx="10" hasCustomPrompt="1"/>
            <p:custDataLst>
              <p:tags r:id="rId3"/>
            </p:custDataLst>
          </p:nvPr>
        </p:nvSpPr>
        <p:spPr>
          <a:xfrm>
            <a:off x="4449233" y="1414463"/>
            <a:ext cx="7437120" cy="4846637"/>
          </a:xfrm>
        </p:spPr>
        <p:txBody>
          <a:bodyPr vert="horz" lIns="91440" tIns="45720" rIns="91440" bIns="45720" rtlCol="0">
            <a:noAutofit/>
          </a:bodyPr>
          <a:lstStyle>
            <a:lvl1pPr>
              <a:defRPr/>
            </a:lvl1pPr>
            <a:lvl2pPr>
              <a:defRPr/>
            </a:lvl2pPr>
            <a:lvl3pPr>
              <a:defRPr/>
            </a:lvl3pPr>
          </a:lstStyle>
          <a:p>
            <a:pPr lvl="0"/>
            <a:r>
              <a:rPr lang="en-US" dirty="0"/>
              <a:t>Click to add text or choose an icon below to insert other content</a:t>
            </a:r>
          </a:p>
          <a:p>
            <a:pPr lvl="1"/>
            <a:r>
              <a:rPr lang="en-US" dirty="0"/>
              <a:t>Second level</a:t>
            </a:r>
          </a:p>
          <a:p>
            <a:pPr lvl="2"/>
            <a:r>
              <a:rPr lang="en-US" dirty="0"/>
              <a:t>Third level</a:t>
            </a:r>
          </a:p>
          <a:p>
            <a:pPr lvl="3"/>
            <a:r>
              <a:rPr lang="en-US" dirty="0"/>
              <a:t>Fourth level</a:t>
            </a:r>
          </a:p>
        </p:txBody>
      </p:sp>
      <p:sp>
        <p:nvSpPr>
          <p:cNvPr id="6" name="Content Placeholder 7"/>
          <p:cNvSpPr>
            <a:spLocks noGrp="1"/>
          </p:cNvSpPr>
          <p:nvPr>
            <p:ph sz="quarter" idx="11" hasCustomPrompt="1"/>
            <p:custDataLst>
              <p:tags r:id="rId4"/>
            </p:custDataLst>
          </p:nvPr>
        </p:nvSpPr>
        <p:spPr>
          <a:xfrm>
            <a:off x="274320" y="228600"/>
            <a:ext cx="3596640" cy="6019800"/>
          </a:xfrm>
        </p:spPr>
        <p:txBody>
          <a:bodyPr/>
          <a:lstStyle>
            <a:lvl1pPr marL="233363" indent="-233363">
              <a:buFont typeface="Arial" pitchFamily="34" charset="0"/>
              <a:buChar char="•"/>
              <a:defRPr sz="2000"/>
            </a:lvl1pPr>
            <a:lvl2pPr marL="457200" indent="-227013">
              <a:buFont typeface="Arial" pitchFamily="34" charset="0"/>
              <a:buChar char="–"/>
              <a:defRPr sz="1800" baseline="0"/>
            </a:lvl2pPr>
            <a:lvl3pPr marL="690563" indent="-236538">
              <a:buFont typeface="Arial" pitchFamily="34" charset="0"/>
              <a:buChar char="–"/>
              <a:tabLst>
                <a:tab pos="690563" algn="l"/>
              </a:tabLst>
              <a:defRPr sz="1600" baseline="0"/>
            </a:lvl3pPr>
          </a:lstStyle>
          <a:p>
            <a:pPr lvl="0"/>
            <a:r>
              <a:rPr lang="en-US" dirty="0"/>
              <a:t>Click to add text or choose an icon below to insert other content</a:t>
            </a:r>
          </a:p>
          <a:p>
            <a:pPr lvl="1"/>
            <a:r>
              <a:rPr lang="en-US" dirty="0"/>
              <a:t>Second level</a:t>
            </a:r>
          </a:p>
          <a:p>
            <a:pPr lvl="2"/>
            <a:r>
              <a:rPr lang="en-US" dirty="0"/>
              <a:t>Third level</a:t>
            </a:r>
          </a:p>
        </p:txBody>
      </p:sp>
      <p:sp>
        <p:nvSpPr>
          <p:cNvPr id="7" name="Text Placeholder 6"/>
          <p:cNvSpPr>
            <a:spLocks noGrp="1"/>
          </p:cNvSpPr>
          <p:nvPr>
            <p:ph type="body" sz="quarter" idx="12" hasCustomPrompt="1"/>
            <p:custDataLst>
              <p:tags r:id="rId5"/>
            </p:custDataLst>
          </p:nvPr>
        </p:nvSpPr>
        <p:spPr>
          <a:xfrm>
            <a:off x="4449234" y="838200"/>
            <a:ext cx="7742767" cy="457200"/>
          </a:xfrm>
        </p:spPr>
        <p:txBody>
          <a:bodyPr/>
          <a:lstStyle>
            <a:lvl1pPr marL="0" indent="0">
              <a:buNone/>
              <a:defRPr sz="2000" i="1"/>
            </a:lvl1pPr>
          </a:lstStyle>
          <a:p>
            <a:pPr lvl="0"/>
            <a:r>
              <a:rPr lang="en-US" dirty="0"/>
              <a:t>Click to Add a Subtitle</a:t>
            </a:r>
          </a:p>
        </p:txBody>
      </p:sp>
    </p:spTree>
  </p:cSld>
  <p:clrMapOvr>
    <a:masterClrMapping/>
  </p:clrMapOvr>
  <p:extLst mod="1">
    <p:ext uri="{DCECCB84-F9BA-43D5-87BE-67443E8EF086}">
      <p15:sldGuideLst xmlns:p15="http://schemas.microsoft.com/office/powerpoint/2012/main">
        <p15:guide id="1" orient="horz" pos="528">
          <p15:clr>
            <a:srgbClr val="5ACBF0"/>
          </p15:clr>
        </p15:guide>
        <p15:guide id="2" orient="horz" pos="888">
          <p15:clr>
            <a:srgbClr val="5ACBF0"/>
          </p15:clr>
        </p15:guide>
        <p15:guide id="3" orient="horz" pos="3944">
          <p15:clr>
            <a:srgbClr val="5ACBF0"/>
          </p15:clr>
        </p15:guide>
        <p15:guide id="4" pos="173">
          <p15:clr>
            <a:srgbClr val="5ACBF0"/>
          </p15:clr>
        </p15:guide>
        <p15:guide id="5" pos="2441">
          <p15:clr>
            <a:srgbClr val="5ACBF0"/>
          </p15:clr>
        </p15:guide>
        <p15:guide id="6" pos="7488">
          <p15:clr>
            <a:srgbClr val="5ACBF0"/>
          </p15:clr>
        </p15:guide>
        <p15:guide id="7" pos="280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pic>
        <p:nvPicPr>
          <p:cNvPr id="7" name="Picture 6"/>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0233358" y="485435"/>
            <a:ext cx="1653211" cy="529027"/>
          </a:xfrm>
          <a:prstGeom prst="rect">
            <a:avLst/>
          </a:prstGeom>
        </p:spPr>
      </p:pic>
      <p:sp>
        <p:nvSpPr>
          <p:cNvPr id="8" name="TextBox 7"/>
          <p:cNvSpPr txBox="1"/>
          <p:nvPr>
            <p:custDataLst>
              <p:tags r:id="rId2"/>
            </p:custDataLst>
          </p:nvPr>
        </p:nvSpPr>
        <p:spPr>
          <a:xfrm>
            <a:off x="1360968" y="2558734"/>
            <a:ext cx="4363427" cy="923330"/>
          </a:xfrm>
          <a:prstGeom prst="rect">
            <a:avLst/>
          </a:prstGeom>
          <a:noFill/>
        </p:spPr>
        <p:txBody>
          <a:bodyPr wrap="square" rtlCol="0">
            <a:spAutoFit/>
          </a:bodyPr>
          <a:lstStyle/>
          <a:p>
            <a:r>
              <a:rPr lang="en-US" sz="5400" b="1" dirty="0"/>
              <a:t>Thank You</a:t>
            </a:r>
          </a:p>
        </p:txBody>
      </p:sp>
      <p:pic>
        <p:nvPicPr>
          <p:cNvPr id="6" name="Picture 5"/>
          <p:cNvPicPr>
            <a:picLocks noChangeAspect="1"/>
          </p:cNvPicPr>
          <p:nvPr>
            <p:custDataLst>
              <p:tags r:id="rId3"/>
            </p:custDataLst>
          </p:nvPr>
        </p:nvPicPr>
        <p:blipFill>
          <a:blip r:embed="rId6"/>
          <a:stretch>
            <a:fillRect/>
          </a:stretch>
        </p:blipFill>
        <p:spPr>
          <a:xfrm>
            <a:off x="0" y="4753502"/>
            <a:ext cx="12188952" cy="210449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End logo">
    <p:spTree>
      <p:nvGrpSpPr>
        <p:cNvPr id="1" name=""/>
        <p:cNvGrpSpPr/>
        <p:nvPr/>
      </p:nvGrpSpPr>
      <p:grpSpPr>
        <a:xfrm>
          <a:off x="0" y="0"/>
          <a:ext cx="0" cy="0"/>
          <a:chOff x="0" y="0"/>
          <a:chExt cx="0" cy="0"/>
        </a:xfrm>
      </p:grpSpPr>
      <p:pic>
        <p:nvPicPr>
          <p:cNvPr id="6" name="Picture 5"/>
          <p:cNvPicPr>
            <a:picLocks noChangeAspect="1"/>
          </p:cNvPicPr>
          <p:nvPr>
            <p:custDataLst>
              <p:tags r:id="rId1"/>
            </p:custDataLst>
          </p:nvPr>
        </p:nvPicPr>
        <p:blipFill>
          <a:blip r:embed="rId3">
            <a:extLst>
              <a:ext uri="{28A0092B-C50C-407E-A947-70E740481C1C}">
                <a14:useLocalDpi xmlns:a14="http://schemas.microsoft.com/office/drawing/2010/main"/>
              </a:ext>
            </a:extLst>
          </a:blip>
          <a:stretch>
            <a:fillRect/>
          </a:stretch>
        </p:blipFill>
        <p:spPr>
          <a:xfrm>
            <a:off x="4267351" y="2843832"/>
            <a:ext cx="3657298" cy="117033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endParaRPr lang="en-US" dirty="0"/>
          </a:p>
        </p:txBody>
      </p:sp>
      <p:sp>
        <p:nvSpPr>
          <p:cNvPr id="3" name="Vertical Text Placeholder 2"/>
          <p:cNvSpPr>
            <a:spLocks noGrp="1"/>
          </p:cNvSpPr>
          <p:nvPr>
            <p:ph type="body" orient="vert" idx="1"/>
            <p:custDataLst>
              <p:tags r:id="rId2"/>
            </p:custDataLst>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9770300" y="365125"/>
            <a:ext cx="1813687" cy="58975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custDataLst>
              <p:tags r:id="rId2"/>
            </p:custDataLst>
          </p:nvPr>
        </p:nvSpPr>
        <p:spPr>
          <a:xfrm>
            <a:off x="609601" y="365125"/>
            <a:ext cx="9022914" cy="589756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4.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1.xml"/><Relationship Id="rId28"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tags" Target="../tags/tag5.xml"/><Relationship Id="rId30"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3"/>
            </p:custDataLst>
          </p:nvPr>
        </p:nvSpPr>
        <p:spPr>
          <a:xfrm>
            <a:off x="609600" y="68574"/>
            <a:ext cx="11581896"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custDataLst>
              <p:tags r:id="rId24"/>
            </p:custDataLst>
          </p:nvPr>
        </p:nvSpPr>
        <p:spPr>
          <a:xfrm>
            <a:off x="609600" y="1414463"/>
            <a:ext cx="10972800" cy="484822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pic>
        <p:nvPicPr>
          <p:cNvPr id="7" name="Picture 6"/>
          <p:cNvPicPr>
            <a:picLocks noChangeAspect="1"/>
          </p:cNvPicPr>
          <p:nvPr>
            <p:custDataLst>
              <p:tags r:id="rId25"/>
            </p:custDataLst>
          </p:nvPr>
        </p:nvPicPr>
        <p:blipFill>
          <a:blip r:embed="rId32"/>
          <a:stretch>
            <a:fillRect/>
          </a:stretch>
        </p:blipFill>
        <p:spPr>
          <a:xfrm>
            <a:off x="11101153" y="6542971"/>
            <a:ext cx="881902" cy="217536"/>
          </a:xfrm>
          <a:prstGeom prst="rect">
            <a:avLst/>
          </a:prstGeom>
        </p:spPr>
      </p:pic>
      <p:sp>
        <p:nvSpPr>
          <p:cNvPr id="8" name="TextBox 7"/>
          <p:cNvSpPr txBox="1"/>
          <p:nvPr>
            <p:custDataLst>
              <p:tags r:id="rId26"/>
            </p:custDataLst>
          </p:nvPr>
        </p:nvSpPr>
        <p:spPr>
          <a:xfrm>
            <a:off x="163812" y="6516189"/>
            <a:ext cx="3759200" cy="230832"/>
          </a:xfrm>
          <a:prstGeom prst="rect">
            <a:avLst/>
          </a:prstGeom>
          <a:noFill/>
        </p:spPr>
        <p:txBody>
          <a:bodyPr wrap="square" rtlCol="0">
            <a:spAutoFit/>
          </a:bodyPr>
          <a:lstStyle/>
          <a:p>
            <a:r>
              <a:rPr lang="en-US" sz="900" dirty="0">
                <a:solidFill>
                  <a:schemeClr val="tx1">
                    <a:lumMod val="50000"/>
                    <a:lumOff val="50000"/>
                  </a:schemeClr>
                </a:solidFill>
              </a:rPr>
              <a:t>© 2017 Synopsys, Inc. </a:t>
            </a:r>
          </a:p>
        </p:txBody>
      </p:sp>
      <p:sp>
        <p:nvSpPr>
          <p:cNvPr id="9" name="TextBox 8"/>
          <p:cNvSpPr txBox="1"/>
          <p:nvPr>
            <p:custDataLst>
              <p:tags r:id="rId27"/>
            </p:custDataLst>
          </p:nvPr>
        </p:nvSpPr>
        <p:spPr>
          <a:xfrm>
            <a:off x="1157671" y="6516189"/>
            <a:ext cx="853440" cy="230832"/>
          </a:xfrm>
          <a:prstGeom prst="rect">
            <a:avLst/>
          </a:prstGeom>
          <a:noFill/>
        </p:spPr>
        <p:txBody>
          <a:bodyPr wrap="square" rtlCol="0">
            <a:spAutoFit/>
          </a:bodyPr>
          <a:lstStyle/>
          <a:p>
            <a:pPr algn="ctr"/>
            <a:fld id="{CAE2347F-76BC-4690-80B5-B24BA0EA7B0A}" type="slidenum">
              <a:rPr lang="en-US" sz="900" dirty="0">
                <a:solidFill>
                  <a:schemeClr val="tx1">
                    <a:lumMod val="50000"/>
                    <a:lumOff val="50000"/>
                  </a:schemeClr>
                </a:solidFill>
              </a:rPr>
              <a:pPr algn="ctr"/>
              <a:t>‹#›</a:t>
            </a:fld>
            <a:endParaRPr lang="en-US" sz="900" dirty="0">
              <a:solidFill>
                <a:schemeClr val="tx1">
                  <a:lumMod val="50000"/>
                  <a:lumOff val="50000"/>
                </a:schemeClr>
              </a:solidFill>
            </a:endParaRPr>
          </a:p>
        </p:txBody>
      </p:sp>
      <p:sp>
        <p:nvSpPr>
          <p:cNvPr id="10" name="TaggedShape" hidden="1"/>
          <p:cNvSpPr/>
          <p:nvPr>
            <p:custDataLst>
              <p:tags r:id="rId28"/>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4" name="TaggedShape" hidden="1"/>
          <p:cNvSpPr/>
          <p:nvPr>
            <p:custDataLst>
              <p:tags r:id="rId2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5" name="TaggedShape" hidden="1"/>
          <p:cNvSpPr/>
          <p:nvPr>
            <p:custDataLst>
              <p:tags r:id="rId30"/>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60" r:id="rId3"/>
    <p:sldLayoutId id="2147483676" r:id="rId4"/>
    <p:sldLayoutId id="2147483661" r:id="rId5"/>
    <p:sldLayoutId id="2147483662" r:id="rId6"/>
    <p:sldLayoutId id="2147483651" r:id="rId7"/>
    <p:sldLayoutId id="2147483663" r:id="rId8"/>
    <p:sldLayoutId id="2147483675" r:id="rId9"/>
    <p:sldLayoutId id="2147483655"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 id="2147483658" r:id="rId20"/>
    <p:sldLayoutId id="2147483659" r:id="rId2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164592" indent="-164592" algn="l" defTabSz="914400" rtl="0" eaLnBrk="1" latinLnBrk="0" hangingPunct="1">
        <a:lnSpc>
          <a:spcPct val="100000"/>
        </a:lnSpc>
        <a:spcBef>
          <a:spcPts val="600"/>
        </a:spcBef>
        <a:buClr>
          <a:schemeClr val="tx1"/>
        </a:buClr>
        <a:buFont typeface="Arial" panose="020B0604020202020204" pitchFamily="34" charset="0"/>
        <a:buChar char="•"/>
        <a:defRPr sz="2000" kern="1200">
          <a:solidFill>
            <a:schemeClr val="tx1"/>
          </a:solidFill>
          <a:latin typeface="+mn-lt"/>
          <a:ea typeface="+mn-ea"/>
          <a:cs typeface="+mn-cs"/>
        </a:defRPr>
      </a:lvl1pPr>
      <a:lvl2pPr marL="457200" indent="-164592"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740664" indent="-164592"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3pPr>
      <a:lvl4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4pPr>
      <a:lvl5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5pPr>
      <a:lvl6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6pPr>
      <a:lvl7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7pPr>
      <a:lvl8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8pPr>
      <a:lvl9pPr marL="1033272" indent="-164592" algn="l" defTabSz="914400" rtl="0" eaLnBrk="1" latinLnBrk="0" hangingPunct="1">
        <a:lnSpc>
          <a:spcPct val="100000"/>
        </a:lnSpc>
        <a:spcBef>
          <a:spcPts val="336"/>
        </a:spcBef>
        <a:buClr>
          <a:schemeClr val="tx1"/>
        </a:buClr>
        <a:buFont typeface="Arial" panose="020B0604020202020204"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dirty="0"/>
              <a:t>Kai-Shun Hu, Ming-Jen Yang, Yu-Hui Huang, Bing-Yi Wong, and Cindy Shen</a:t>
            </a:r>
          </a:p>
        </p:txBody>
      </p:sp>
      <p:sp>
        <p:nvSpPr>
          <p:cNvPr id="6" name="Text Placeholder 5"/>
          <p:cNvSpPr>
            <a:spLocks noGrp="1"/>
          </p:cNvSpPr>
          <p:nvPr>
            <p:ph type="body" sz="quarter" idx="11"/>
          </p:nvPr>
        </p:nvSpPr>
        <p:spPr/>
        <p:txBody>
          <a:bodyPr/>
          <a:lstStyle/>
          <a:p>
            <a:r>
              <a:rPr lang="en-US" dirty="0"/>
              <a:t>Nov 13</a:t>
            </a:r>
            <a:r>
              <a:rPr lang="en-US" baseline="30000" dirty="0"/>
              <a:t>th</a:t>
            </a:r>
            <a:r>
              <a:rPr lang="en-US" dirty="0"/>
              <a:t>, 2017</a:t>
            </a:r>
          </a:p>
        </p:txBody>
      </p:sp>
      <p:sp>
        <p:nvSpPr>
          <p:cNvPr id="4" name="Subtitle 3"/>
          <p:cNvSpPr>
            <a:spLocks noGrp="1"/>
          </p:cNvSpPr>
          <p:nvPr>
            <p:ph type="subTitle" idx="1"/>
          </p:nvPr>
        </p:nvSpPr>
        <p:spPr/>
        <p:txBody>
          <a:bodyPr/>
          <a:lstStyle/>
          <a:p>
            <a:r>
              <a:rPr lang="en-US" dirty="0"/>
              <a:t>Problem Description, Benchmarks, and Results</a:t>
            </a:r>
          </a:p>
        </p:txBody>
      </p:sp>
      <p:sp>
        <p:nvSpPr>
          <p:cNvPr id="2" name="Title 1"/>
          <p:cNvSpPr>
            <a:spLocks noGrp="1"/>
          </p:cNvSpPr>
          <p:nvPr>
            <p:ph type="ctrTitle"/>
          </p:nvPr>
        </p:nvSpPr>
        <p:spPr/>
        <p:txBody>
          <a:bodyPr>
            <a:normAutofit fontScale="90000"/>
          </a:bodyPr>
          <a:lstStyle/>
          <a:p>
            <a:r>
              <a:rPr lang="en-US" dirty="0"/>
              <a:t>ICCAD-2017 CAD Contest in Net Open Location Finder with Obstacles</a:t>
            </a:r>
          </a:p>
        </p:txBody>
      </p:sp>
    </p:spTree>
    <p:extLst>
      <p:ext uri="{BB962C8B-B14F-4D97-AF65-F5344CB8AC3E}">
        <p14:creationId xmlns:p14="http://schemas.microsoft.com/office/powerpoint/2010/main" val="3832463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Outline</a:t>
            </a:r>
          </a:p>
        </p:txBody>
      </p:sp>
      <p:sp>
        <p:nvSpPr>
          <p:cNvPr id="7" name="Text Placeholder 6"/>
          <p:cNvSpPr>
            <a:spLocks noGrp="1"/>
          </p:cNvSpPr>
          <p:nvPr>
            <p:ph type="body" sz="quarter" idx="10"/>
          </p:nvPr>
        </p:nvSpPr>
        <p:spPr/>
        <p:txBody>
          <a:bodyPr/>
          <a:lstStyle/>
          <a:p>
            <a:r>
              <a:rPr lang="en-US" dirty="0"/>
              <a:t>Problem Description</a:t>
            </a:r>
          </a:p>
          <a:p>
            <a:r>
              <a:rPr lang="en-US" dirty="0"/>
              <a:t>Evaluation Methodology</a:t>
            </a:r>
          </a:p>
          <a:p>
            <a:r>
              <a:rPr lang="en-US" dirty="0"/>
              <a:t>Benchmarks</a:t>
            </a:r>
          </a:p>
          <a:p>
            <a:r>
              <a:rPr lang="en-US" dirty="0"/>
              <a:t>Results</a:t>
            </a:r>
          </a:p>
        </p:txBody>
      </p:sp>
    </p:spTree>
    <p:extLst>
      <p:ext uri="{BB962C8B-B14F-4D97-AF65-F5344CB8AC3E}">
        <p14:creationId xmlns:p14="http://schemas.microsoft.com/office/powerpoint/2010/main" val="642608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Problem Description</a:t>
            </a:r>
          </a:p>
        </p:txBody>
      </p:sp>
      <p:sp>
        <p:nvSpPr>
          <p:cNvPr id="7" name="Content Placeholder 6"/>
          <p:cNvSpPr>
            <a:spLocks noGrp="1"/>
          </p:cNvSpPr>
          <p:nvPr>
            <p:ph idx="1"/>
          </p:nvPr>
        </p:nvSpPr>
        <p:spPr/>
        <p:txBody>
          <a:bodyPr/>
          <a:lstStyle/>
          <a:p>
            <a:r>
              <a:rPr lang="en-US" dirty="0"/>
              <a:t>Develop a tool</a:t>
            </a:r>
          </a:p>
          <a:p>
            <a:pPr lvl="1"/>
            <a:r>
              <a:rPr lang="en-US" dirty="0"/>
              <a:t>Detect if a net is open after placement &amp; routing (P&amp;R) stage</a:t>
            </a:r>
          </a:p>
          <a:p>
            <a:pPr lvl="1"/>
            <a:r>
              <a:rPr lang="en-US" dirty="0"/>
              <a:t>Indicate the (shortest) paths to reconnect existing net shapes to resolve open</a:t>
            </a:r>
          </a:p>
          <a:p>
            <a:pPr lvl="1"/>
            <a:r>
              <a:rPr lang="en-US" dirty="0"/>
              <a:t>Obstacle awareness</a:t>
            </a:r>
          </a:p>
          <a:p>
            <a:endParaRPr lang="en-US" dirty="0"/>
          </a:p>
          <a:p>
            <a:r>
              <a:rPr lang="en-US" dirty="0"/>
              <a:t>Given</a:t>
            </a:r>
          </a:p>
          <a:p>
            <a:pPr lvl="1"/>
            <a:r>
              <a:rPr lang="en-US" dirty="0"/>
              <a:t>a set of routed net shapes </a:t>
            </a:r>
            <a:r>
              <a:rPr lang="en-US" b="1" i="1" dirty="0"/>
              <a:t>R</a:t>
            </a:r>
            <a:r>
              <a:rPr lang="en-US" dirty="0"/>
              <a:t> = {</a:t>
            </a:r>
            <a:r>
              <a:rPr lang="en-US" i="1" dirty="0"/>
              <a:t>R</a:t>
            </a:r>
            <a:r>
              <a:rPr lang="en-US" i="1" baseline="-25000" dirty="0"/>
              <a:t>1</a:t>
            </a:r>
            <a:r>
              <a:rPr lang="en-US" i="1" dirty="0"/>
              <a:t>, R</a:t>
            </a:r>
            <a:r>
              <a:rPr lang="en-US" i="1" baseline="-25000" dirty="0"/>
              <a:t>2</a:t>
            </a:r>
            <a:r>
              <a:rPr lang="en-US" i="1" dirty="0"/>
              <a:t>, …, R</a:t>
            </a:r>
            <a:r>
              <a:rPr lang="en-US" i="1" baseline="-25000" dirty="0"/>
              <a:t>j</a:t>
            </a:r>
            <a:r>
              <a:rPr lang="en-US" dirty="0"/>
              <a:t>}</a:t>
            </a:r>
          </a:p>
          <a:p>
            <a:pPr lvl="1"/>
            <a:r>
              <a:rPr lang="en-US" dirty="0"/>
              <a:t>a set of routed net vias </a:t>
            </a:r>
            <a:r>
              <a:rPr lang="en-US" b="1" i="1" dirty="0"/>
              <a:t>V</a:t>
            </a:r>
            <a:r>
              <a:rPr lang="en-US" dirty="0"/>
              <a:t> = {</a:t>
            </a:r>
            <a:r>
              <a:rPr lang="en-US" i="1" dirty="0"/>
              <a:t>v</a:t>
            </a:r>
            <a:r>
              <a:rPr lang="en-US" i="1" baseline="-25000" dirty="0"/>
              <a:t>1</a:t>
            </a:r>
            <a:r>
              <a:rPr lang="en-US" i="1" dirty="0"/>
              <a:t>, v</a:t>
            </a:r>
            <a:r>
              <a:rPr lang="en-US" i="1" baseline="-25000" dirty="0"/>
              <a:t>2</a:t>
            </a:r>
            <a:r>
              <a:rPr lang="en-US" i="1" dirty="0"/>
              <a:t>, …, v</a:t>
            </a:r>
            <a:r>
              <a:rPr lang="en-US" i="1" baseline="-25000" dirty="0"/>
              <a:t>k</a:t>
            </a:r>
            <a:r>
              <a:rPr lang="en-US" dirty="0"/>
              <a:t>}</a:t>
            </a:r>
          </a:p>
          <a:p>
            <a:pPr lvl="1"/>
            <a:r>
              <a:rPr lang="en-US" dirty="0"/>
              <a:t>a set of obstacles </a:t>
            </a:r>
            <a:r>
              <a:rPr lang="en-US" b="1" i="1" dirty="0"/>
              <a:t>O</a:t>
            </a:r>
            <a:r>
              <a:rPr lang="en-US" dirty="0"/>
              <a:t> = {</a:t>
            </a:r>
            <a:r>
              <a:rPr lang="en-US" i="1" dirty="0"/>
              <a:t>O</a:t>
            </a:r>
            <a:r>
              <a:rPr lang="en-US" i="1" baseline="-25000" dirty="0"/>
              <a:t>1</a:t>
            </a:r>
            <a:r>
              <a:rPr lang="en-US" i="1" dirty="0"/>
              <a:t>, O</a:t>
            </a:r>
            <a:r>
              <a:rPr lang="en-US" i="1" baseline="-25000" dirty="0"/>
              <a:t>2</a:t>
            </a:r>
            <a:r>
              <a:rPr lang="en-US" i="1" dirty="0"/>
              <a:t>, …, O</a:t>
            </a:r>
            <a:r>
              <a:rPr lang="en-US" i="1" baseline="-25000" dirty="0"/>
              <a:t>m</a:t>
            </a:r>
            <a:r>
              <a:rPr lang="en-US" dirty="0"/>
              <a:t>}</a:t>
            </a:r>
          </a:p>
          <a:p>
            <a:pPr lvl="1"/>
            <a:r>
              <a:rPr lang="en-US" dirty="0"/>
              <a:t>routing layers </a:t>
            </a:r>
            <a:r>
              <a:rPr lang="en-US" b="1" i="1" dirty="0"/>
              <a:t>L</a:t>
            </a:r>
            <a:r>
              <a:rPr lang="en-US" dirty="0"/>
              <a:t> = {</a:t>
            </a:r>
            <a:r>
              <a:rPr lang="en-US" i="1" dirty="0"/>
              <a:t>M1, V1, M2, V2, …, Vn-1, Mn</a:t>
            </a:r>
            <a:r>
              <a:rPr lang="en-US" dirty="0"/>
              <a:t>}</a:t>
            </a:r>
          </a:p>
          <a:p>
            <a:pPr lvl="1"/>
            <a:r>
              <a:rPr lang="en-US" dirty="0"/>
              <a:t>design boundary </a:t>
            </a:r>
            <a:r>
              <a:rPr lang="en-US" b="1" i="1" dirty="0"/>
              <a:t>B</a:t>
            </a:r>
          </a:p>
          <a:p>
            <a:pPr lvl="1"/>
            <a:r>
              <a:rPr lang="en-US" dirty="0"/>
              <a:t>minimum spacing </a:t>
            </a:r>
            <a:r>
              <a:rPr lang="en-US" b="1" i="1" dirty="0"/>
              <a:t>S</a:t>
            </a:r>
          </a:p>
          <a:p>
            <a:pPr lvl="1"/>
            <a:r>
              <a:rPr lang="en-US" dirty="0"/>
              <a:t>via cost </a:t>
            </a:r>
            <a:r>
              <a:rPr lang="en-US" b="1" i="1" dirty="0"/>
              <a:t>C</a:t>
            </a:r>
            <a:r>
              <a:rPr lang="en-US" b="1" i="1" baseline="-25000" dirty="0"/>
              <a:t>v</a:t>
            </a:r>
            <a:endParaRPr lang="en-US" dirty="0"/>
          </a:p>
        </p:txBody>
      </p:sp>
      <p:sp>
        <p:nvSpPr>
          <p:cNvPr id="8" name="Text Placeholder 7"/>
          <p:cNvSpPr>
            <a:spLocks noGrp="1"/>
          </p:cNvSpPr>
          <p:nvPr>
            <p:ph type="body" sz="quarter" idx="12"/>
          </p:nvPr>
        </p:nvSpPr>
        <p:spPr/>
        <p:txBody>
          <a:bodyPr/>
          <a:lstStyle/>
          <a:p>
            <a:endParaRPr lang="en-US" dirty="0"/>
          </a:p>
        </p:txBody>
      </p:sp>
      <p:pic>
        <p:nvPicPr>
          <p:cNvPr id="9" name="Picture 8"/>
          <p:cNvPicPr>
            <a:picLocks noChangeAspect="1"/>
          </p:cNvPicPr>
          <p:nvPr/>
        </p:nvPicPr>
        <p:blipFill>
          <a:blip r:embed="rId3"/>
          <a:stretch>
            <a:fillRect/>
          </a:stretch>
        </p:blipFill>
        <p:spPr>
          <a:xfrm>
            <a:off x="6400800" y="3357634"/>
            <a:ext cx="5252937" cy="2286000"/>
          </a:xfrm>
          <a:prstGeom prst="rect">
            <a:avLst/>
          </a:prstGeom>
        </p:spPr>
      </p:pic>
    </p:spTree>
    <p:extLst>
      <p:ext uri="{BB962C8B-B14F-4D97-AF65-F5344CB8AC3E}">
        <p14:creationId xmlns:p14="http://schemas.microsoft.com/office/powerpoint/2010/main" val="2989144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Problem Description</a:t>
            </a:r>
          </a:p>
        </p:txBody>
      </p:sp>
      <p:sp>
        <p:nvSpPr>
          <p:cNvPr id="7" name="Content Placeholder 6"/>
          <p:cNvSpPr>
            <a:spLocks noGrp="1"/>
          </p:cNvSpPr>
          <p:nvPr>
            <p:ph idx="1"/>
          </p:nvPr>
        </p:nvSpPr>
        <p:spPr/>
        <p:txBody>
          <a:bodyPr/>
          <a:lstStyle/>
          <a:p>
            <a:r>
              <a:rPr lang="en-US" dirty="0"/>
              <a:t>Output</a:t>
            </a:r>
          </a:p>
          <a:p>
            <a:pPr lvl="1"/>
            <a:r>
              <a:rPr lang="en-US" dirty="0"/>
              <a:t>a set of paths </a:t>
            </a:r>
            <a:r>
              <a:rPr lang="en-US" b="1" i="1" dirty="0"/>
              <a:t>p</a:t>
            </a:r>
            <a:r>
              <a:rPr lang="en-US" dirty="0"/>
              <a:t> = {</a:t>
            </a:r>
            <a:r>
              <a:rPr lang="en-US" i="1" dirty="0"/>
              <a:t>p</a:t>
            </a:r>
            <a:r>
              <a:rPr lang="en-US" i="1" baseline="-25000" dirty="0"/>
              <a:t>1</a:t>
            </a:r>
            <a:r>
              <a:rPr lang="en-US" i="1" dirty="0"/>
              <a:t>, p</a:t>
            </a:r>
            <a:r>
              <a:rPr lang="en-US" i="1" baseline="-25000" dirty="0"/>
              <a:t>2</a:t>
            </a:r>
            <a:r>
              <a:rPr lang="en-US" i="1" dirty="0"/>
              <a:t>, …, p</a:t>
            </a:r>
            <a:r>
              <a:rPr lang="en-US" i="1" baseline="-25000" dirty="0"/>
              <a:t>l</a:t>
            </a:r>
            <a:r>
              <a:rPr lang="en-US" dirty="0"/>
              <a:t>} to connect all </a:t>
            </a:r>
            <a:r>
              <a:rPr lang="en-US" b="1" i="1" dirty="0"/>
              <a:t>R </a:t>
            </a:r>
            <a:r>
              <a:rPr lang="en-US" dirty="0"/>
              <a:t>and </a:t>
            </a:r>
            <a:r>
              <a:rPr lang="en-US" b="1" i="1" dirty="0"/>
              <a:t>V</a:t>
            </a:r>
            <a:r>
              <a:rPr lang="en-US" dirty="0"/>
              <a:t> together</a:t>
            </a:r>
          </a:p>
          <a:p>
            <a:pPr lvl="2"/>
            <a:r>
              <a:rPr lang="en-US" dirty="0"/>
              <a:t>each path </a:t>
            </a:r>
            <a:r>
              <a:rPr lang="en-US" b="1" i="1" dirty="0"/>
              <a:t>p</a:t>
            </a:r>
            <a:r>
              <a:rPr lang="en-US" b="1" i="1" baseline="-25000" dirty="0"/>
              <a:t>i</a:t>
            </a:r>
            <a:r>
              <a:rPr lang="en-US" dirty="0"/>
              <a:t> can be a H-line, a V-line, or a via</a:t>
            </a:r>
          </a:p>
          <a:p>
            <a:endParaRPr lang="en-US" dirty="0"/>
          </a:p>
          <a:p>
            <a:r>
              <a:rPr lang="en-US" dirty="0"/>
              <a:t>Challenges</a:t>
            </a:r>
          </a:p>
          <a:p>
            <a:pPr lvl="1"/>
            <a:r>
              <a:rPr lang="en-US" dirty="0"/>
              <a:t>Large amount of existing routing shapes</a:t>
            </a:r>
          </a:p>
          <a:p>
            <a:pPr lvl="1"/>
            <a:r>
              <a:rPr lang="en-US" dirty="0"/>
              <a:t>Geometries not Points</a:t>
            </a:r>
          </a:p>
          <a:p>
            <a:pPr lvl="1"/>
            <a:r>
              <a:rPr lang="en-US" dirty="0"/>
              <a:t>Multi-layer</a:t>
            </a:r>
          </a:p>
          <a:p>
            <a:pPr lvl="1"/>
            <a:r>
              <a:rPr lang="en-US" dirty="0"/>
              <a:t>Runtime</a:t>
            </a:r>
          </a:p>
          <a:p>
            <a:pPr lvl="2"/>
            <a:r>
              <a:rPr lang="en-US" dirty="0"/>
              <a:t>Seek for fast solution to solve a large net open problem</a:t>
            </a:r>
            <a:endParaRPr lang="en-US" b="1" dirty="0"/>
          </a:p>
          <a:p>
            <a:pPr lvl="2"/>
            <a:r>
              <a:rPr lang="en-US" dirty="0"/>
              <a:t>Multi-threading is encouraged</a:t>
            </a:r>
          </a:p>
          <a:p>
            <a:pPr lvl="2"/>
            <a:r>
              <a:rPr lang="en-US" dirty="0"/>
              <a:t>4-core machine provided</a:t>
            </a:r>
          </a:p>
          <a:p>
            <a:endParaRPr lang="en-US" dirty="0"/>
          </a:p>
        </p:txBody>
      </p:sp>
      <p:sp>
        <p:nvSpPr>
          <p:cNvPr id="8" name="Text Placeholder 7"/>
          <p:cNvSpPr>
            <a:spLocks noGrp="1"/>
          </p:cNvSpPr>
          <p:nvPr>
            <p:ph type="body" sz="quarter" idx="12"/>
          </p:nvPr>
        </p:nvSpPr>
        <p:spPr/>
        <p:txBody>
          <a:bodyPr/>
          <a:lstStyle/>
          <a:p>
            <a:endParaRPr lang="en-US" dirty="0"/>
          </a:p>
        </p:txBody>
      </p:sp>
      <p:pic>
        <p:nvPicPr>
          <p:cNvPr id="11" name="Picture 10"/>
          <p:cNvPicPr>
            <a:picLocks noChangeAspect="1"/>
          </p:cNvPicPr>
          <p:nvPr/>
        </p:nvPicPr>
        <p:blipFill>
          <a:blip r:embed="rId3"/>
          <a:stretch>
            <a:fillRect/>
          </a:stretch>
        </p:blipFill>
        <p:spPr>
          <a:xfrm>
            <a:off x="6400800" y="3357634"/>
            <a:ext cx="5252938" cy="2286000"/>
          </a:xfrm>
          <a:prstGeom prst="rect">
            <a:avLst/>
          </a:prstGeom>
        </p:spPr>
      </p:pic>
    </p:spTree>
    <p:extLst>
      <p:ext uri="{BB962C8B-B14F-4D97-AF65-F5344CB8AC3E}">
        <p14:creationId xmlns:p14="http://schemas.microsoft.com/office/powerpoint/2010/main" val="4034635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Methodology</a:t>
            </a:r>
          </a:p>
        </p:txBody>
      </p:sp>
      <p:sp>
        <p:nvSpPr>
          <p:cNvPr id="3" name="Content Placeholder 2"/>
          <p:cNvSpPr>
            <a:spLocks noGrp="1"/>
          </p:cNvSpPr>
          <p:nvPr>
            <p:ph sz="half" idx="1"/>
          </p:nvPr>
        </p:nvSpPr>
        <p:spPr/>
        <p:txBody>
          <a:bodyPr/>
          <a:lstStyle/>
          <a:p>
            <a:r>
              <a:rPr lang="en-US" dirty="0"/>
              <a:t>Overall cost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8" name="Content Placeholder 17"/>
          <p:cNvSpPr>
            <a:spLocks noGrp="1"/>
          </p:cNvSpPr>
          <p:nvPr>
            <p:ph sz="half" idx="2"/>
          </p:nvPr>
        </p:nvSpPr>
        <p:spPr/>
        <p:txBody>
          <a:bodyPr/>
          <a:lstStyle/>
          <a:p>
            <a:r>
              <a:rPr lang="en-US" dirty="0"/>
              <a:t>Runtime bonus</a:t>
            </a:r>
          </a:p>
          <a:p>
            <a:endParaRPr lang="en-US" dirty="0"/>
          </a:p>
          <a:p>
            <a:endParaRPr lang="en-US" dirty="0"/>
          </a:p>
        </p:txBody>
      </p:sp>
      <p:sp>
        <p:nvSpPr>
          <p:cNvPr id="19" name="Text Placeholder 18"/>
          <p:cNvSpPr>
            <a:spLocks noGrp="1"/>
          </p:cNvSpPr>
          <p:nvPr>
            <p:ph type="body" sz="quarter" idx="12"/>
          </p:nvPr>
        </p:nvSpPr>
        <p:spPr/>
        <p:txBody>
          <a:bodyPr/>
          <a:lstStyle/>
          <a:p>
            <a:endParaRPr lang="en-US" dirty="0"/>
          </a:p>
        </p:txBody>
      </p:sp>
      <p:pic>
        <p:nvPicPr>
          <p:cNvPr id="20" name="Picture 19"/>
          <p:cNvPicPr>
            <a:picLocks noChangeAspect="1"/>
          </p:cNvPicPr>
          <p:nvPr/>
        </p:nvPicPr>
        <p:blipFill>
          <a:blip r:embed="rId3"/>
          <a:stretch>
            <a:fillRect/>
          </a:stretch>
        </p:blipFill>
        <p:spPr>
          <a:xfrm>
            <a:off x="623041" y="1909219"/>
            <a:ext cx="5371359" cy="3007747"/>
          </a:xfrm>
          <a:prstGeom prst="rect">
            <a:avLst/>
          </a:prstGeom>
          <a:ln w="12700">
            <a:solidFill>
              <a:schemeClr val="tx1"/>
            </a:solidFill>
          </a:ln>
        </p:spPr>
      </p:pic>
      <p:pic>
        <p:nvPicPr>
          <p:cNvPr id="22" name="Picture 21" descr="Figure 1: Paths generated to fix the opens"/>
          <p:cNvPicPr/>
          <p:nvPr/>
        </p:nvPicPr>
        <p:blipFill>
          <a:blip r:embed="rId4" cstate="print">
            <a:extLst>
              <a:ext uri="{28A0092B-C50C-407E-A947-70E740481C1C}">
                <a14:useLocalDpi xmlns:a14="http://schemas.microsoft.com/office/drawing/2010/main" val="0"/>
              </a:ext>
            </a:extLst>
          </a:blip>
          <a:stretch>
            <a:fillRect/>
          </a:stretch>
        </p:blipFill>
        <p:spPr bwMode="auto">
          <a:xfrm>
            <a:off x="2975061" y="5184476"/>
            <a:ext cx="3019339" cy="1345722"/>
          </a:xfrm>
          <a:prstGeom prst="rect">
            <a:avLst/>
          </a:prstGeom>
          <a:noFill/>
        </p:spPr>
      </p:pic>
      <p:pic>
        <p:nvPicPr>
          <p:cNvPr id="4" name="Picture 3"/>
          <p:cNvPicPr>
            <a:picLocks noChangeAspect="1"/>
          </p:cNvPicPr>
          <p:nvPr/>
        </p:nvPicPr>
        <p:blipFill>
          <a:blip r:embed="rId5"/>
          <a:stretch>
            <a:fillRect/>
          </a:stretch>
        </p:blipFill>
        <p:spPr>
          <a:xfrm>
            <a:off x="6496171" y="1909219"/>
            <a:ext cx="4787660" cy="2891692"/>
          </a:xfrm>
          <a:prstGeom prst="rect">
            <a:avLst/>
          </a:prstGeom>
          <a:ln w="12700">
            <a:solidFill>
              <a:schemeClr val="tx1"/>
            </a:solidFill>
          </a:ln>
        </p:spPr>
      </p:pic>
      <p:sp>
        <p:nvSpPr>
          <p:cNvPr id="5" name="TextBox 4"/>
          <p:cNvSpPr txBox="1"/>
          <p:nvPr/>
        </p:nvSpPr>
        <p:spPr>
          <a:xfrm>
            <a:off x="8412480" y="4431579"/>
            <a:ext cx="955040" cy="369332"/>
          </a:xfrm>
          <a:prstGeom prst="rect">
            <a:avLst/>
          </a:prstGeom>
          <a:noFill/>
        </p:spPr>
        <p:txBody>
          <a:bodyPr wrap="square" rtlCol="0">
            <a:spAutoFit/>
          </a:bodyPr>
          <a:lstStyle/>
          <a:p>
            <a:r>
              <a:rPr lang="en-US" sz="1800" dirty="0"/>
              <a:t>runtime</a:t>
            </a:r>
          </a:p>
        </p:txBody>
      </p:sp>
    </p:spTree>
    <p:extLst>
      <p:ext uri="{BB962C8B-B14F-4D97-AF65-F5344CB8AC3E}">
        <p14:creationId xmlns:p14="http://schemas.microsoft.com/office/powerpoint/2010/main" val="1658580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Benchmarks</a:t>
            </a:r>
          </a:p>
        </p:txBody>
      </p:sp>
      <p:sp>
        <p:nvSpPr>
          <p:cNvPr id="3" name="Content Placeholder 2"/>
          <p:cNvSpPr>
            <a:spLocks noGrp="1"/>
          </p:cNvSpPr>
          <p:nvPr>
            <p:ph idx="1"/>
          </p:nvPr>
        </p:nvSpPr>
        <p:spPr>
          <a:xfrm>
            <a:off x="609600" y="1414463"/>
            <a:ext cx="10972800" cy="4848225"/>
          </a:xfrm>
        </p:spPr>
        <p:txBody>
          <a:bodyPr/>
          <a:lstStyle/>
          <a:p>
            <a:r>
              <a:rPr lang="en-US" dirty="0"/>
              <a:t>Public cases</a:t>
            </a:r>
          </a:p>
          <a:p>
            <a:endParaRPr lang="en-US" dirty="0"/>
          </a:p>
          <a:p>
            <a:endParaRPr lang="en-US" dirty="0"/>
          </a:p>
          <a:p>
            <a:endParaRPr lang="en-US" dirty="0"/>
          </a:p>
          <a:p>
            <a:endParaRPr lang="en-US" dirty="0"/>
          </a:p>
          <a:p>
            <a:endParaRPr lang="en-US" dirty="0"/>
          </a:p>
          <a:p>
            <a:endParaRPr lang="en-US" dirty="0"/>
          </a:p>
          <a:p>
            <a:r>
              <a:rPr lang="en-US" dirty="0"/>
              <a:t>Hidden cases</a:t>
            </a:r>
          </a:p>
        </p:txBody>
      </p:sp>
      <p:sp>
        <p:nvSpPr>
          <p:cNvPr id="4" name="Text Placeholder 3"/>
          <p:cNvSpPr>
            <a:spLocks noGrp="1"/>
          </p:cNvSpPr>
          <p:nvPr>
            <p:ph type="body" sz="quarter" idx="12"/>
          </p:nvPr>
        </p:nvSpPr>
        <p:spPr/>
        <p:txBody>
          <a:bodyPr/>
          <a:lstStyle/>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825053491"/>
              </p:ext>
            </p:extLst>
          </p:nvPr>
        </p:nvGraphicFramePr>
        <p:xfrm>
          <a:off x="867434" y="1841100"/>
          <a:ext cx="7674187" cy="18542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233859320"/>
                    </a:ext>
                  </a:extLst>
                </a:gridCol>
                <a:gridCol w="1109980">
                  <a:extLst>
                    <a:ext uri="{9D8B030D-6E8A-4147-A177-3AD203B41FA5}">
                      <a16:colId xmlns:a16="http://schemas.microsoft.com/office/drawing/2014/main" val="4067161442"/>
                    </a:ext>
                  </a:extLst>
                </a:gridCol>
                <a:gridCol w="1973580">
                  <a:extLst>
                    <a:ext uri="{9D8B030D-6E8A-4147-A177-3AD203B41FA5}">
                      <a16:colId xmlns:a16="http://schemas.microsoft.com/office/drawing/2014/main" val="2260968292"/>
                    </a:ext>
                  </a:extLst>
                </a:gridCol>
                <a:gridCol w="1465580">
                  <a:extLst>
                    <a:ext uri="{9D8B030D-6E8A-4147-A177-3AD203B41FA5}">
                      <a16:colId xmlns:a16="http://schemas.microsoft.com/office/drawing/2014/main" val="1271001120"/>
                    </a:ext>
                  </a:extLst>
                </a:gridCol>
                <a:gridCol w="1770380">
                  <a:extLst>
                    <a:ext uri="{9D8B030D-6E8A-4147-A177-3AD203B41FA5}">
                      <a16:colId xmlns:a16="http://schemas.microsoft.com/office/drawing/2014/main" val="3678584122"/>
                    </a:ext>
                  </a:extLst>
                </a:gridCol>
              </a:tblGrid>
              <a:tr h="370840">
                <a:tc>
                  <a:txBody>
                    <a:bodyPr/>
                    <a:lstStyle/>
                    <a:p>
                      <a:r>
                        <a:rPr lang="en-US" dirty="0"/>
                        <a:t>Name</a:t>
                      </a:r>
                    </a:p>
                  </a:txBody>
                  <a:tcPr/>
                </a:tc>
                <a:tc>
                  <a:txBody>
                    <a:bodyPr/>
                    <a:lstStyle/>
                    <a:p>
                      <a:r>
                        <a:rPr lang="en-US" altLang="zh-TW" dirty="0"/>
                        <a:t>#Layers</a:t>
                      </a:r>
                      <a:endParaRPr lang="en-US" dirty="0"/>
                    </a:p>
                  </a:txBody>
                  <a:tcPr/>
                </a:tc>
                <a:tc>
                  <a:txBody>
                    <a:bodyPr/>
                    <a:lstStyle/>
                    <a:p>
                      <a:r>
                        <a:rPr lang="en-US" dirty="0"/>
                        <a:t>#</a:t>
                      </a:r>
                      <a:r>
                        <a:rPr lang="en-US" altLang="zh-TW" dirty="0"/>
                        <a:t>Routed</a:t>
                      </a:r>
                      <a:r>
                        <a:rPr lang="en-US" dirty="0"/>
                        <a:t>Shapes</a:t>
                      </a:r>
                    </a:p>
                  </a:txBody>
                  <a:tcPr/>
                </a:tc>
                <a:tc>
                  <a:txBody>
                    <a:bodyPr/>
                    <a:lstStyle/>
                    <a:p>
                      <a:r>
                        <a:rPr lang="en-US" dirty="0"/>
                        <a:t>#Obstacles</a:t>
                      </a:r>
                    </a:p>
                  </a:txBody>
                  <a:tcPr/>
                </a:tc>
                <a:tc>
                  <a:txBody>
                    <a:bodyPr/>
                    <a:lstStyle/>
                    <a:p>
                      <a:r>
                        <a:rPr lang="en-US" dirty="0"/>
                        <a:t>#Components</a:t>
                      </a:r>
                    </a:p>
                  </a:txBody>
                  <a:tcPr/>
                </a:tc>
                <a:extLst>
                  <a:ext uri="{0D108BD9-81ED-4DB2-BD59-A6C34878D82A}">
                    <a16:rowId xmlns:a16="http://schemas.microsoft.com/office/drawing/2014/main" val="2007833278"/>
                  </a:ext>
                </a:extLst>
              </a:tr>
              <a:tr h="370840">
                <a:tc>
                  <a:txBody>
                    <a:bodyPr/>
                    <a:lstStyle/>
                    <a:p>
                      <a:r>
                        <a:rPr lang="en-US" dirty="0"/>
                        <a:t>case1</a:t>
                      </a:r>
                    </a:p>
                  </a:txBody>
                  <a:tcPr/>
                </a:tc>
                <a:tc>
                  <a:txBody>
                    <a:bodyPr/>
                    <a:lstStyle/>
                    <a:p>
                      <a:r>
                        <a:rPr lang="en-US" dirty="0"/>
                        <a:t>3</a:t>
                      </a:r>
                    </a:p>
                  </a:txBody>
                  <a:tcPr/>
                </a:tc>
                <a:tc>
                  <a:txBody>
                    <a:bodyPr/>
                    <a:lstStyle/>
                    <a:p>
                      <a:r>
                        <a:rPr lang="en-US" dirty="0"/>
                        <a:t>1503</a:t>
                      </a:r>
                    </a:p>
                  </a:txBody>
                  <a:tcPr/>
                </a:tc>
                <a:tc>
                  <a:txBody>
                    <a:bodyPr/>
                    <a:lstStyle/>
                    <a:p>
                      <a:r>
                        <a:rPr lang="en-US" dirty="0"/>
                        <a:t>414</a:t>
                      </a:r>
                    </a:p>
                  </a:txBody>
                  <a:tcPr/>
                </a:tc>
                <a:tc>
                  <a:txBody>
                    <a:bodyPr/>
                    <a:lstStyle/>
                    <a:p>
                      <a:r>
                        <a:rPr lang="en-US" dirty="0"/>
                        <a:t>113</a:t>
                      </a:r>
                    </a:p>
                  </a:txBody>
                  <a:tcPr/>
                </a:tc>
                <a:extLst>
                  <a:ext uri="{0D108BD9-81ED-4DB2-BD59-A6C34878D82A}">
                    <a16:rowId xmlns:a16="http://schemas.microsoft.com/office/drawing/2014/main" val="1191087981"/>
                  </a:ext>
                </a:extLst>
              </a:tr>
              <a:tr h="370840">
                <a:tc>
                  <a:txBody>
                    <a:bodyPr/>
                    <a:lstStyle/>
                    <a:p>
                      <a:r>
                        <a:rPr lang="en-US" dirty="0"/>
                        <a:t>case2</a:t>
                      </a:r>
                    </a:p>
                  </a:txBody>
                  <a:tcPr/>
                </a:tc>
                <a:tc>
                  <a:txBody>
                    <a:bodyPr/>
                    <a:lstStyle/>
                    <a:p>
                      <a:r>
                        <a:rPr lang="en-US" dirty="0"/>
                        <a:t>5</a:t>
                      </a:r>
                    </a:p>
                  </a:txBody>
                  <a:tcPr/>
                </a:tc>
                <a:tc>
                  <a:txBody>
                    <a:bodyPr/>
                    <a:lstStyle/>
                    <a:p>
                      <a:r>
                        <a:rPr lang="en-US" dirty="0"/>
                        <a:t>4518</a:t>
                      </a:r>
                    </a:p>
                  </a:txBody>
                  <a:tcPr/>
                </a:tc>
                <a:tc>
                  <a:txBody>
                    <a:bodyPr/>
                    <a:lstStyle/>
                    <a:p>
                      <a:r>
                        <a:rPr lang="en-US" dirty="0"/>
                        <a:t>4773</a:t>
                      </a:r>
                    </a:p>
                  </a:txBody>
                  <a:tcPr/>
                </a:tc>
                <a:tc>
                  <a:txBody>
                    <a:bodyPr/>
                    <a:lstStyle/>
                    <a:p>
                      <a:r>
                        <a:rPr lang="en-US" dirty="0"/>
                        <a:t>1602</a:t>
                      </a:r>
                    </a:p>
                  </a:txBody>
                  <a:tcPr/>
                </a:tc>
                <a:extLst>
                  <a:ext uri="{0D108BD9-81ED-4DB2-BD59-A6C34878D82A}">
                    <a16:rowId xmlns:a16="http://schemas.microsoft.com/office/drawing/2014/main" val="818510394"/>
                  </a:ext>
                </a:extLst>
              </a:tr>
              <a:tr h="370840">
                <a:tc>
                  <a:txBody>
                    <a:bodyPr/>
                    <a:lstStyle/>
                    <a:p>
                      <a:r>
                        <a:rPr lang="en-US" dirty="0"/>
                        <a:t>case3</a:t>
                      </a:r>
                    </a:p>
                  </a:txBody>
                  <a:tcPr/>
                </a:tc>
                <a:tc>
                  <a:txBody>
                    <a:bodyPr/>
                    <a:lstStyle/>
                    <a:p>
                      <a:r>
                        <a:rPr lang="en-US" dirty="0"/>
                        <a:t>8</a:t>
                      </a:r>
                    </a:p>
                  </a:txBody>
                  <a:tcPr/>
                </a:tc>
                <a:tc>
                  <a:txBody>
                    <a:bodyPr/>
                    <a:lstStyle/>
                    <a:p>
                      <a:r>
                        <a:rPr lang="en-US" dirty="0"/>
                        <a:t>97146</a:t>
                      </a:r>
                    </a:p>
                  </a:txBody>
                  <a:tcPr/>
                </a:tc>
                <a:tc>
                  <a:txBody>
                    <a:bodyPr/>
                    <a:lstStyle/>
                    <a:p>
                      <a:r>
                        <a:rPr lang="en-US" dirty="0"/>
                        <a:t>79012</a:t>
                      </a:r>
                    </a:p>
                  </a:txBody>
                  <a:tcPr/>
                </a:tc>
                <a:tc>
                  <a:txBody>
                    <a:bodyPr/>
                    <a:lstStyle/>
                    <a:p>
                      <a:r>
                        <a:rPr lang="en-US" dirty="0"/>
                        <a:t>18438</a:t>
                      </a:r>
                    </a:p>
                  </a:txBody>
                  <a:tcPr/>
                </a:tc>
                <a:extLst>
                  <a:ext uri="{0D108BD9-81ED-4DB2-BD59-A6C34878D82A}">
                    <a16:rowId xmlns:a16="http://schemas.microsoft.com/office/drawing/2014/main" val="3074342949"/>
                  </a:ext>
                </a:extLst>
              </a:tr>
              <a:tr h="370840">
                <a:tc>
                  <a:txBody>
                    <a:bodyPr/>
                    <a:lstStyle/>
                    <a:p>
                      <a:r>
                        <a:rPr lang="en-US" dirty="0"/>
                        <a:t>caseA</a:t>
                      </a:r>
                    </a:p>
                  </a:txBody>
                  <a:tcPr/>
                </a:tc>
                <a:tc>
                  <a:txBody>
                    <a:bodyPr/>
                    <a:lstStyle/>
                    <a:p>
                      <a:r>
                        <a:rPr lang="en-US" dirty="0"/>
                        <a:t>8</a:t>
                      </a:r>
                    </a:p>
                  </a:txBody>
                  <a:tcPr/>
                </a:tc>
                <a:tc>
                  <a:txBody>
                    <a:bodyPr/>
                    <a:lstStyle/>
                    <a:p>
                      <a:r>
                        <a:rPr lang="en-US" dirty="0"/>
                        <a:t>104492</a:t>
                      </a:r>
                    </a:p>
                  </a:txBody>
                  <a:tcPr/>
                </a:tc>
                <a:tc>
                  <a:txBody>
                    <a:bodyPr/>
                    <a:lstStyle/>
                    <a:p>
                      <a:r>
                        <a:rPr lang="en-US" dirty="0"/>
                        <a:t>69491</a:t>
                      </a:r>
                    </a:p>
                  </a:txBody>
                  <a:tcPr/>
                </a:tc>
                <a:tc>
                  <a:txBody>
                    <a:bodyPr/>
                    <a:lstStyle/>
                    <a:p>
                      <a:r>
                        <a:rPr lang="en-US" dirty="0"/>
                        <a:t>21137</a:t>
                      </a:r>
                    </a:p>
                  </a:txBody>
                  <a:tcPr/>
                </a:tc>
                <a:extLst>
                  <a:ext uri="{0D108BD9-81ED-4DB2-BD59-A6C34878D82A}">
                    <a16:rowId xmlns:a16="http://schemas.microsoft.com/office/drawing/2014/main" val="374851513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39759230"/>
              </p:ext>
            </p:extLst>
          </p:nvPr>
        </p:nvGraphicFramePr>
        <p:xfrm>
          <a:off x="867433" y="4527551"/>
          <a:ext cx="7674187" cy="18542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233859320"/>
                    </a:ext>
                  </a:extLst>
                </a:gridCol>
                <a:gridCol w="1109980">
                  <a:extLst>
                    <a:ext uri="{9D8B030D-6E8A-4147-A177-3AD203B41FA5}">
                      <a16:colId xmlns:a16="http://schemas.microsoft.com/office/drawing/2014/main" val="4067161442"/>
                    </a:ext>
                  </a:extLst>
                </a:gridCol>
                <a:gridCol w="1973580">
                  <a:extLst>
                    <a:ext uri="{9D8B030D-6E8A-4147-A177-3AD203B41FA5}">
                      <a16:colId xmlns:a16="http://schemas.microsoft.com/office/drawing/2014/main" val="2260968292"/>
                    </a:ext>
                  </a:extLst>
                </a:gridCol>
                <a:gridCol w="1465580">
                  <a:extLst>
                    <a:ext uri="{9D8B030D-6E8A-4147-A177-3AD203B41FA5}">
                      <a16:colId xmlns:a16="http://schemas.microsoft.com/office/drawing/2014/main" val="1271001120"/>
                    </a:ext>
                  </a:extLst>
                </a:gridCol>
                <a:gridCol w="1770380">
                  <a:extLst>
                    <a:ext uri="{9D8B030D-6E8A-4147-A177-3AD203B41FA5}">
                      <a16:colId xmlns:a16="http://schemas.microsoft.com/office/drawing/2014/main" val="3678584122"/>
                    </a:ext>
                  </a:extLst>
                </a:gridCol>
              </a:tblGrid>
              <a:tr h="370840">
                <a:tc>
                  <a:txBody>
                    <a:bodyPr/>
                    <a:lstStyle/>
                    <a:p>
                      <a:r>
                        <a:rPr lang="en-US" dirty="0"/>
                        <a:t>Name</a:t>
                      </a:r>
                    </a:p>
                  </a:txBody>
                  <a:tcPr/>
                </a:tc>
                <a:tc>
                  <a:txBody>
                    <a:bodyPr/>
                    <a:lstStyle/>
                    <a:p>
                      <a:r>
                        <a:rPr lang="en-US" altLang="zh-TW" dirty="0"/>
                        <a:t>#Layers</a:t>
                      </a:r>
                      <a:endParaRPr lang="en-US" dirty="0"/>
                    </a:p>
                  </a:txBody>
                  <a:tcPr/>
                </a:tc>
                <a:tc>
                  <a:txBody>
                    <a:bodyPr/>
                    <a:lstStyle/>
                    <a:p>
                      <a:r>
                        <a:rPr lang="en-US" dirty="0"/>
                        <a:t>#</a:t>
                      </a:r>
                      <a:r>
                        <a:rPr lang="en-US" altLang="zh-TW" dirty="0"/>
                        <a:t>Routed</a:t>
                      </a:r>
                      <a:r>
                        <a:rPr lang="en-US" dirty="0"/>
                        <a:t>Shapes</a:t>
                      </a:r>
                    </a:p>
                  </a:txBody>
                  <a:tcPr/>
                </a:tc>
                <a:tc>
                  <a:txBody>
                    <a:bodyPr/>
                    <a:lstStyle/>
                    <a:p>
                      <a:r>
                        <a:rPr lang="en-US" dirty="0"/>
                        <a:t>#Obstacles</a:t>
                      </a:r>
                    </a:p>
                  </a:txBody>
                  <a:tcPr/>
                </a:tc>
                <a:tc>
                  <a:txBody>
                    <a:bodyPr/>
                    <a:lstStyle/>
                    <a:p>
                      <a:r>
                        <a:rPr lang="en-US" dirty="0"/>
                        <a:t>#Components</a:t>
                      </a:r>
                    </a:p>
                  </a:txBody>
                  <a:tcPr/>
                </a:tc>
                <a:extLst>
                  <a:ext uri="{0D108BD9-81ED-4DB2-BD59-A6C34878D82A}">
                    <a16:rowId xmlns:a16="http://schemas.microsoft.com/office/drawing/2014/main" val="2007833278"/>
                  </a:ext>
                </a:extLst>
              </a:tr>
              <a:tr h="370840">
                <a:tc>
                  <a:txBody>
                    <a:bodyPr/>
                    <a:lstStyle/>
                    <a:p>
                      <a:r>
                        <a:rPr lang="en-US" dirty="0"/>
                        <a:t>case4</a:t>
                      </a:r>
                    </a:p>
                  </a:txBody>
                  <a:tcPr/>
                </a:tc>
                <a:tc>
                  <a:txBody>
                    <a:bodyPr/>
                    <a:lstStyle/>
                    <a:p>
                      <a:r>
                        <a:rPr lang="en-US" dirty="0"/>
                        <a:t>3</a:t>
                      </a:r>
                    </a:p>
                  </a:txBody>
                  <a:tcPr/>
                </a:tc>
                <a:tc>
                  <a:txBody>
                    <a:bodyPr/>
                    <a:lstStyle/>
                    <a:p>
                      <a:r>
                        <a:rPr lang="en-US" dirty="0"/>
                        <a:t>1941</a:t>
                      </a:r>
                    </a:p>
                  </a:txBody>
                  <a:tcPr/>
                </a:tc>
                <a:tc>
                  <a:txBody>
                    <a:bodyPr/>
                    <a:lstStyle/>
                    <a:p>
                      <a:r>
                        <a:rPr lang="en-US" dirty="0"/>
                        <a:t>421</a:t>
                      </a:r>
                    </a:p>
                  </a:txBody>
                  <a:tcPr/>
                </a:tc>
                <a:tc>
                  <a:txBody>
                    <a:bodyPr/>
                    <a:lstStyle/>
                    <a:p>
                      <a:r>
                        <a:rPr lang="en-US" dirty="0"/>
                        <a:t>216</a:t>
                      </a:r>
                    </a:p>
                  </a:txBody>
                  <a:tcPr/>
                </a:tc>
                <a:extLst>
                  <a:ext uri="{0D108BD9-81ED-4DB2-BD59-A6C34878D82A}">
                    <a16:rowId xmlns:a16="http://schemas.microsoft.com/office/drawing/2014/main" val="1191087981"/>
                  </a:ext>
                </a:extLst>
              </a:tr>
              <a:tr h="370840">
                <a:tc>
                  <a:txBody>
                    <a:bodyPr/>
                    <a:lstStyle/>
                    <a:p>
                      <a:r>
                        <a:rPr lang="en-US" dirty="0"/>
                        <a:t>case5</a:t>
                      </a:r>
                    </a:p>
                  </a:txBody>
                  <a:tcPr/>
                </a:tc>
                <a:tc>
                  <a:txBody>
                    <a:bodyPr/>
                    <a:lstStyle/>
                    <a:p>
                      <a:r>
                        <a:rPr lang="en-US" dirty="0"/>
                        <a:t>5</a:t>
                      </a:r>
                    </a:p>
                  </a:txBody>
                  <a:tcPr/>
                </a:tc>
                <a:tc>
                  <a:txBody>
                    <a:bodyPr/>
                    <a:lstStyle/>
                    <a:p>
                      <a:r>
                        <a:rPr lang="en-US" dirty="0"/>
                        <a:t>4450</a:t>
                      </a:r>
                    </a:p>
                  </a:txBody>
                  <a:tcPr/>
                </a:tc>
                <a:tc>
                  <a:txBody>
                    <a:bodyPr/>
                    <a:lstStyle/>
                    <a:p>
                      <a:r>
                        <a:rPr lang="en-US" dirty="0"/>
                        <a:t>4762</a:t>
                      </a:r>
                    </a:p>
                  </a:txBody>
                  <a:tcPr/>
                </a:tc>
                <a:tc>
                  <a:txBody>
                    <a:bodyPr/>
                    <a:lstStyle/>
                    <a:p>
                      <a:r>
                        <a:rPr lang="en-US" dirty="0"/>
                        <a:t>1663</a:t>
                      </a:r>
                    </a:p>
                  </a:txBody>
                  <a:tcPr/>
                </a:tc>
                <a:extLst>
                  <a:ext uri="{0D108BD9-81ED-4DB2-BD59-A6C34878D82A}">
                    <a16:rowId xmlns:a16="http://schemas.microsoft.com/office/drawing/2014/main" val="818510394"/>
                  </a:ext>
                </a:extLst>
              </a:tr>
              <a:tr h="370840">
                <a:tc>
                  <a:txBody>
                    <a:bodyPr/>
                    <a:lstStyle/>
                    <a:p>
                      <a:r>
                        <a:rPr lang="en-US" dirty="0"/>
                        <a:t>case6</a:t>
                      </a:r>
                    </a:p>
                  </a:txBody>
                  <a:tcPr/>
                </a:tc>
                <a:tc>
                  <a:txBody>
                    <a:bodyPr/>
                    <a:lstStyle/>
                    <a:p>
                      <a:r>
                        <a:rPr lang="en-US" dirty="0"/>
                        <a:t>8</a:t>
                      </a:r>
                    </a:p>
                  </a:txBody>
                  <a:tcPr/>
                </a:tc>
                <a:tc>
                  <a:txBody>
                    <a:bodyPr/>
                    <a:lstStyle/>
                    <a:p>
                      <a:r>
                        <a:rPr lang="en-US" dirty="0"/>
                        <a:t>94100</a:t>
                      </a:r>
                    </a:p>
                  </a:txBody>
                  <a:tcPr/>
                </a:tc>
                <a:tc>
                  <a:txBody>
                    <a:bodyPr/>
                    <a:lstStyle/>
                    <a:p>
                      <a:r>
                        <a:rPr lang="en-US" dirty="0"/>
                        <a:t>77969</a:t>
                      </a:r>
                    </a:p>
                  </a:txBody>
                  <a:tcPr/>
                </a:tc>
                <a:tc>
                  <a:txBody>
                    <a:bodyPr/>
                    <a:lstStyle/>
                    <a:p>
                      <a:r>
                        <a:rPr lang="en-US" dirty="0"/>
                        <a:t>31163</a:t>
                      </a:r>
                    </a:p>
                  </a:txBody>
                  <a:tcPr/>
                </a:tc>
                <a:extLst>
                  <a:ext uri="{0D108BD9-81ED-4DB2-BD59-A6C34878D82A}">
                    <a16:rowId xmlns:a16="http://schemas.microsoft.com/office/drawing/2014/main" val="3074342949"/>
                  </a:ext>
                </a:extLst>
              </a:tr>
              <a:tr h="370840">
                <a:tc>
                  <a:txBody>
                    <a:bodyPr/>
                    <a:lstStyle/>
                    <a:p>
                      <a:r>
                        <a:rPr lang="en-US" dirty="0"/>
                        <a:t>caseB</a:t>
                      </a:r>
                    </a:p>
                  </a:txBody>
                  <a:tcPr/>
                </a:tc>
                <a:tc>
                  <a:txBody>
                    <a:bodyPr/>
                    <a:lstStyle/>
                    <a:p>
                      <a:r>
                        <a:rPr lang="en-US" dirty="0"/>
                        <a:t>8</a:t>
                      </a:r>
                    </a:p>
                  </a:txBody>
                  <a:tcPr/>
                </a:tc>
                <a:tc>
                  <a:txBody>
                    <a:bodyPr/>
                    <a:lstStyle/>
                    <a:p>
                      <a:r>
                        <a:rPr lang="en-US" dirty="0"/>
                        <a:t>97019</a:t>
                      </a:r>
                    </a:p>
                  </a:txBody>
                  <a:tcPr/>
                </a:tc>
                <a:tc>
                  <a:txBody>
                    <a:bodyPr/>
                    <a:lstStyle/>
                    <a:p>
                      <a:r>
                        <a:rPr lang="en-US" dirty="0"/>
                        <a:t>81852</a:t>
                      </a:r>
                    </a:p>
                  </a:txBody>
                  <a:tcPr/>
                </a:tc>
                <a:tc>
                  <a:txBody>
                    <a:bodyPr/>
                    <a:lstStyle/>
                    <a:p>
                      <a:r>
                        <a:rPr lang="en-US" dirty="0"/>
                        <a:t>32045</a:t>
                      </a:r>
                    </a:p>
                  </a:txBody>
                  <a:tcPr/>
                </a:tc>
                <a:extLst>
                  <a:ext uri="{0D108BD9-81ED-4DB2-BD59-A6C34878D82A}">
                    <a16:rowId xmlns:a16="http://schemas.microsoft.com/office/drawing/2014/main" val="3748515138"/>
                  </a:ext>
                </a:extLst>
              </a:tr>
            </a:tbl>
          </a:graphicData>
        </a:graphic>
      </p:graphicFrame>
    </p:spTree>
    <p:extLst>
      <p:ext uri="{BB962C8B-B14F-4D97-AF65-F5344CB8AC3E}">
        <p14:creationId xmlns:p14="http://schemas.microsoft.com/office/powerpoint/2010/main" val="2829989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4" name="Text Placeholder 3"/>
          <p:cNvSpPr>
            <a:spLocks noGrp="1"/>
          </p:cNvSpPr>
          <p:nvPr>
            <p:ph type="body" sz="quarter" idx="12"/>
          </p:nvPr>
        </p:nvSpPr>
        <p:spPr/>
        <p:txBody>
          <a:bodyPr/>
          <a:lstStyle/>
          <a:p>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3926536928"/>
              </p:ext>
            </p:extLst>
          </p:nvPr>
        </p:nvGraphicFramePr>
        <p:xfrm>
          <a:off x="609596" y="4166384"/>
          <a:ext cx="10972797" cy="1709592"/>
        </p:xfrm>
        <a:graphic>
          <a:graphicData uri="http://schemas.openxmlformats.org/drawingml/2006/table">
            <a:tbl>
              <a:tblPr>
                <a:tableStyleId>{284E427A-3D55-4303-BF80-6455036E1DE7}</a:tableStyleId>
              </a:tblPr>
              <a:tblGrid>
                <a:gridCol w="527045">
                  <a:extLst>
                    <a:ext uri="{9D8B030D-6E8A-4147-A177-3AD203B41FA5}">
                      <a16:colId xmlns:a16="http://schemas.microsoft.com/office/drawing/2014/main" val="2697111677"/>
                    </a:ext>
                  </a:extLst>
                </a:gridCol>
                <a:gridCol w="1031875">
                  <a:extLst>
                    <a:ext uri="{9D8B030D-6E8A-4147-A177-3AD203B41FA5}">
                      <a16:colId xmlns:a16="http://schemas.microsoft.com/office/drawing/2014/main" val="559937443"/>
                    </a:ext>
                  </a:extLst>
                </a:gridCol>
                <a:gridCol w="1089025">
                  <a:extLst>
                    <a:ext uri="{9D8B030D-6E8A-4147-A177-3AD203B41FA5}">
                      <a16:colId xmlns:a16="http://schemas.microsoft.com/office/drawing/2014/main" val="2198031320"/>
                    </a:ext>
                  </a:extLst>
                </a:gridCol>
                <a:gridCol w="1254125">
                  <a:extLst>
                    <a:ext uri="{9D8B030D-6E8A-4147-A177-3AD203B41FA5}">
                      <a16:colId xmlns:a16="http://schemas.microsoft.com/office/drawing/2014/main" val="1553447867"/>
                    </a:ext>
                  </a:extLst>
                </a:gridCol>
                <a:gridCol w="1303338">
                  <a:extLst>
                    <a:ext uri="{9D8B030D-6E8A-4147-A177-3AD203B41FA5}">
                      <a16:colId xmlns:a16="http://schemas.microsoft.com/office/drawing/2014/main" val="2605985894"/>
                    </a:ext>
                  </a:extLst>
                </a:gridCol>
                <a:gridCol w="1090612">
                  <a:extLst>
                    <a:ext uri="{9D8B030D-6E8A-4147-A177-3AD203B41FA5}">
                      <a16:colId xmlns:a16="http://schemas.microsoft.com/office/drawing/2014/main" val="2199914685"/>
                    </a:ext>
                  </a:extLst>
                </a:gridCol>
                <a:gridCol w="1204913">
                  <a:extLst>
                    <a:ext uri="{9D8B030D-6E8A-4147-A177-3AD203B41FA5}">
                      <a16:colId xmlns:a16="http://schemas.microsoft.com/office/drawing/2014/main" val="4046465278"/>
                    </a:ext>
                  </a:extLst>
                </a:gridCol>
                <a:gridCol w="1348525">
                  <a:extLst>
                    <a:ext uri="{9D8B030D-6E8A-4147-A177-3AD203B41FA5}">
                      <a16:colId xmlns:a16="http://schemas.microsoft.com/office/drawing/2014/main" val="1431831263"/>
                    </a:ext>
                  </a:extLst>
                </a:gridCol>
                <a:gridCol w="1168689">
                  <a:extLst>
                    <a:ext uri="{9D8B030D-6E8A-4147-A177-3AD203B41FA5}">
                      <a16:colId xmlns:a16="http://schemas.microsoft.com/office/drawing/2014/main" val="329774261"/>
                    </a:ext>
                  </a:extLst>
                </a:gridCol>
                <a:gridCol w="954650">
                  <a:extLst>
                    <a:ext uri="{9D8B030D-6E8A-4147-A177-3AD203B41FA5}">
                      <a16:colId xmlns:a16="http://schemas.microsoft.com/office/drawing/2014/main" val="3742994379"/>
                    </a:ext>
                  </a:extLst>
                </a:gridCol>
              </a:tblGrid>
              <a:tr h="0">
                <a:tc>
                  <a:txBody>
                    <a:bodyPr/>
                    <a:lstStyle/>
                    <a:p>
                      <a:pPr algn="l" fontAlgn="ct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case1</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case3</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caseA</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caseB</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l" fontAlgn="ct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3672489878"/>
                  </a:ext>
                </a:extLst>
              </a:tr>
              <a:tr h="286226">
                <a:tc>
                  <a:txBody>
                    <a:bodyPr/>
                    <a:lstStyle/>
                    <a:p>
                      <a:pPr algn="ctr" fontAlgn="ctr"/>
                      <a:r>
                        <a:rPr lang="en-US" sz="1200" u="none" strike="noStrike" kern="1200" dirty="0">
                          <a:effectLst/>
                        </a:rPr>
                        <a:t>Team</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br>
                        <a:rPr lang="en-US" sz="1200" u="none" strike="noStrike" kern="1200" dirty="0">
                          <a:effectLst/>
                        </a:rPr>
                      </a:b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sum of Cost</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1745261319"/>
                  </a:ext>
                </a:extLst>
              </a:tr>
              <a:tr h="175098">
                <a:tc>
                  <a:txBody>
                    <a:bodyPr/>
                    <a:lstStyle/>
                    <a:p>
                      <a:pPr algn="r" fontAlgn="ctr"/>
                      <a:r>
                        <a:rPr lang="en-US" sz="1200" u="none" strike="noStrike" dirty="0">
                          <a:effectLst/>
                        </a:rPr>
                        <a:t>Top1</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3373.5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65532.0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774949.2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1243805.6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8730.9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23102.0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1451527.2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4800562.2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8371582.5</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3707963873"/>
                  </a:ext>
                </a:extLst>
              </a:tr>
              <a:tr h="175098">
                <a:tc>
                  <a:txBody>
                    <a:bodyPr/>
                    <a:lstStyle/>
                    <a:p>
                      <a:pPr algn="r" fontAlgn="ctr"/>
                      <a:r>
                        <a:rPr lang="en-US" sz="1200" u="none" strike="noStrike" kern="1200" dirty="0">
                          <a:effectLst/>
                        </a:rPr>
                        <a:t>Top2</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3501.9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62834.4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793566.9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1221963.3</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9336.6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26946.0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1589137.2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4920687.0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8627973.3</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1351817921"/>
                  </a:ext>
                </a:extLst>
              </a:tr>
              <a:tr h="175098">
                <a:tc>
                  <a:txBody>
                    <a:bodyPr/>
                    <a:lstStyle/>
                    <a:p>
                      <a:pPr algn="r" fontAlgn="ctr"/>
                      <a:r>
                        <a:rPr lang="en-US" sz="1200" u="none" strike="noStrike" kern="1200" dirty="0">
                          <a:effectLst/>
                        </a:rPr>
                        <a:t>Top3</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3589.0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67766.0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743067.2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1231049.0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9831.0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22772.0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1529955.1</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5137222.9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8745252.1</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131146399"/>
                  </a:ext>
                </a:extLst>
              </a:tr>
              <a:tr h="139809">
                <a:tc>
                  <a:txBody>
                    <a:bodyPr/>
                    <a:lstStyle/>
                    <a:p>
                      <a:pPr algn="r" fontAlgn="ctr"/>
                      <a:r>
                        <a:rPr lang="en-US" sz="1200" u="none" strike="noStrike" dirty="0">
                          <a:effectLst/>
                        </a:rPr>
                        <a:t>Top4</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3945.4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71829.5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883606.0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1358057.0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10544.0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29694.2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1746400.0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5485610.0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9589686.0</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2422381112"/>
                  </a:ext>
                </a:extLst>
              </a:tr>
              <a:tr h="175098">
                <a:tc>
                  <a:txBody>
                    <a:bodyPr/>
                    <a:lstStyle/>
                    <a:p>
                      <a:pPr algn="r" fontAlgn="ctr"/>
                      <a:r>
                        <a:rPr lang="en-US" sz="1200" u="none" strike="noStrike" dirty="0">
                          <a:effectLst/>
                        </a:rPr>
                        <a:t>Top5</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5346.0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79032.6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1308958.2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1588569.3</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9828.0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53983.8</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2529135.0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5509345.5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11084198.4</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2097946718"/>
                  </a:ext>
                </a:extLst>
              </a:tr>
              <a:tr h="175098">
                <a:tc>
                  <a:txBody>
                    <a:bodyPr/>
                    <a:lstStyle/>
                    <a:p>
                      <a:pPr algn="r" fontAlgn="ctr"/>
                      <a:r>
                        <a:rPr lang="en-US" sz="1200" u="none" strike="noStrike" dirty="0">
                          <a:effectLst/>
                        </a:rPr>
                        <a:t>Top6</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4803.2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83946.8</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1120525.0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1679905.0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11668.9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42489.7</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2394072.2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6340824.4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11678235.1</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606832858"/>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002001105"/>
              </p:ext>
            </p:extLst>
          </p:nvPr>
        </p:nvGraphicFramePr>
        <p:xfrm>
          <a:off x="609596" y="1837797"/>
          <a:ext cx="10972804" cy="1702364"/>
        </p:xfrm>
        <a:graphic>
          <a:graphicData uri="http://schemas.openxmlformats.org/drawingml/2006/table">
            <a:tbl>
              <a:tblPr>
                <a:tableStyleId>{3C2FFA5D-87B4-456A-9821-1D502468CF0F}</a:tableStyleId>
              </a:tblPr>
              <a:tblGrid>
                <a:gridCol w="528638">
                  <a:extLst>
                    <a:ext uri="{9D8B030D-6E8A-4147-A177-3AD203B41FA5}">
                      <a16:colId xmlns:a16="http://schemas.microsoft.com/office/drawing/2014/main" val="2001545738"/>
                    </a:ext>
                  </a:extLst>
                </a:gridCol>
                <a:gridCol w="1023937">
                  <a:extLst>
                    <a:ext uri="{9D8B030D-6E8A-4147-A177-3AD203B41FA5}">
                      <a16:colId xmlns:a16="http://schemas.microsoft.com/office/drawing/2014/main" val="516407939"/>
                    </a:ext>
                  </a:extLst>
                </a:gridCol>
                <a:gridCol w="1083469">
                  <a:extLst>
                    <a:ext uri="{9D8B030D-6E8A-4147-A177-3AD203B41FA5}">
                      <a16:colId xmlns:a16="http://schemas.microsoft.com/office/drawing/2014/main" val="944572178"/>
                    </a:ext>
                  </a:extLst>
                </a:gridCol>
                <a:gridCol w="1269206">
                  <a:extLst>
                    <a:ext uri="{9D8B030D-6E8A-4147-A177-3AD203B41FA5}">
                      <a16:colId xmlns:a16="http://schemas.microsoft.com/office/drawing/2014/main" val="3821307351"/>
                    </a:ext>
                  </a:extLst>
                </a:gridCol>
                <a:gridCol w="1285875">
                  <a:extLst>
                    <a:ext uri="{9D8B030D-6E8A-4147-A177-3AD203B41FA5}">
                      <a16:colId xmlns:a16="http://schemas.microsoft.com/office/drawing/2014/main" val="357478527"/>
                    </a:ext>
                  </a:extLst>
                </a:gridCol>
                <a:gridCol w="1104900">
                  <a:extLst>
                    <a:ext uri="{9D8B030D-6E8A-4147-A177-3AD203B41FA5}">
                      <a16:colId xmlns:a16="http://schemas.microsoft.com/office/drawing/2014/main" val="631461961"/>
                    </a:ext>
                  </a:extLst>
                </a:gridCol>
                <a:gridCol w="1211836">
                  <a:extLst>
                    <a:ext uri="{9D8B030D-6E8A-4147-A177-3AD203B41FA5}">
                      <a16:colId xmlns:a16="http://schemas.microsoft.com/office/drawing/2014/main" val="648293718"/>
                    </a:ext>
                  </a:extLst>
                </a:gridCol>
                <a:gridCol w="1337094">
                  <a:extLst>
                    <a:ext uri="{9D8B030D-6E8A-4147-A177-3AD203B41FA5}">
                      <a16:colId xmlns:a16="http://schemas.microsoft.com/office/drawing/2014/main" val="1007417692"/>
                    </a:ext>
                  </a:extLst>
                </a:gridCol>
                <a:gridCol w="1207698">
                  <a:extLst>
                    <a:ext uri="{9D8B030D-6E8A-4147-A177-3AD203B41FA5}">
                      <a16:colId xmlns:a16="http://schemas.microsoft.com/office/drawing/2014/main" val="2323891425"/>
                    </a:ext>
                  </a:extLst>
                </a:gridCol>
                <a:gridCol w="920151">
                  <a:extLst>
                    <a:ext uri="{9D8B030D-6E8A-4147-A177-3AD203B41FA5}">
                      <a16:colId xmlns:a16="http://schemas.microsoft.com/office/drawing/2014/main" val="2601804003"/>
                    </a:ext>
                  </a:extLst>
                </a:gridCol>
              </a:tblGrid>
              <a:tr h="142103">
                <a:tc>
                  <a:txBody>
                    <a:bodyPr/>
                    <a:lstStyle/>
                    <a:p>
                      <a:pPr algn="l" fontAlgn="ct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case1</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case2</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case3</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caseA</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case4</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case5</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case6</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caseB</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l" fontAlgn="ct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1741820677"/>
                  </a:ext>
                </a:extLst>
              </a:tr>
              <a:tr h="333632">
                <a:tc>
                  <a:txBody>
                    <a:bodyPr/>
                    <a:lstStyle/>
                    <a:p>
                      <a:pPr algn="ctr" fontAlgn="ctr"/>
                      <a:r>
                        <a:rPr lang="en-US" sz="1200" u="none" strike="noStrike" kern="1200" dirty="0">
                          <a:effectLst/>
                        </a:rPr>
                        <a:t>Team</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sum of Cost</a:t>
                      </a: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3497484621"/>
                  </a:ext>
                </a:extLst>
              </a:tr>
              <a:tr h="135924">
                <a:tc>
                  <a:txBody>
                    <a:bodyPr/>
                    <a:lstStyle/>
                    <a:p>
                      <a:pPr algn="r" fontAlgn="ctr"/>
                      <a:r>
                        <a:rPr lang="en-US" sz="1200" u="none" strike="noStrike" kern="1200" dirty="0">
                          <a:effectLst/>
                        </a:rPr>
                        <a:t>Top1</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5615.5</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112608.0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1757681.0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11179.6</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69936.2</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3272724.0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894087490"/>
                  </a:ext>
                </a:extLst>
              </a:tr>
              <a:tr h="135924">
                <a:tc>
                  <a:txBody>
                    <a:bodyPr/>
                    <a:lstStyle/>
                    <a:p>
                      <a:pPr algn="r" fontAlgn="ctr"/>
                      <a:r>
                        <a:rPr lang="en-US" sz="1200" u="none" strike="noStrike" kern="1200" dirty="0">
                          <a:effectLst/>
                        </a:rPr>
                        <a:t>Top2</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10354.0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283169.7</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8603366.4</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16574.4</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405935.1</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11516518.8</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74815762"/>
                  </a:ext>
                </a:extLst>
              </a:tr>
              <a:tr h="135924">
                <a:tc>
                  <a:txBody>
                    <a:bodyPr/>
                    <a:lstStyle/>
                    <a:p>
                      <a:pPr algn="r" fontAlgn="ctr"/>
                      <a:r>
                        <a:rPr lang="en-US" sz="1200" u="none" strike="noStrike" kern="1200" dirty="0">
                          <a:effectLst/>
                        </a:rPr>
                        <a:t>Top3</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5852.0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91617.1</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1682141.4</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1418378.0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39835263.2</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3644879.4</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1986517231"/>
                  </a:ext>
                </a:extLst>
              </a:tr>
              <a:tr h="135924">
                <a:tc>
                  <a:txBody>
                    <a:bodyPr/>
                    <a:lstStyle/>
                    <a:p>
                      <a:pPr algn="r" fontAlgn="ctr"/>
                      <a:r>
                        <a:rPr lang="en-US" sz="1200" u="none" strike="noStrike" kern="1200" dirty="0">
                          <a:effectLst/>
                        </a:rPr>
                        <a:t>Top4</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222898.5</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13639418.1</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2771104479.8</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307918.8</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15119409.6</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3504707256.4</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3363549641"/>
                  </a:ext>
                </a:extLst>
              </a:tr>
              <a:tr h="135924">
                <a:tc>
                  <a:txBody>
                    <a:bodyPr/>
                    <a:lstStyle/>
                    <a:p>
                      <a:pPr algn="r" fontAlgn="ctr"/>
                      <a:r>
                        <a:rPr lang="en-US" sz="1200" u="none" strike="noStrike" kern="1200" dirty="0">
                          <a:effectLst/>
                        </a:rPr>
                        <a:t>Top5</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1263615.0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80939003.0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6513229278.1</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2462976.0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79419405.0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14062146000.6</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1007639933"/>
                  </a:ext>
                </a:extLst>
              </a:tr>
              <a:tr h="135924">
                <a:tc>
                  <a:txBody>
                    <a:bodyPr/>
                    <a:lstStyle/>
                    <a:p>
                      <a:pPr algn="r" fontAlgn="ctr"/>
                      <a:r>
                        <a:rPr lang="en-US" sz="1200" u="none" strike="noStrike" kern="1200" dirty="0">
                          <a:effectLst/>
                        </a:rPr>
                        <a:t>Top6</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5346.0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79032.6</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21578259186.0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10374.0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53983.8</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r" fontAlgn="ctr"/>
                      <a:r>
                        <a:rPr lang="en-US" sz="1200" u="none" strike="noStrike" kern="1200" dirty="0">
                          <a:effectLst/>
                        </a:rPr>
                        <a:t>28059542442.0</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tc>
                  <a:txBody>
                    <a:bodyPr/>
                    <a:lstStyle/>
                    <a:p>
                      <a:pPr algn="ctr" fontAlgn="ctr"/>
                      <a:r>
                        <a:rPr lang="en-US" sz="1200" u="none" strike="noStrike" kern="1200" dirty="0">
                          <a:effectLst/>
                        </a:rPr>
                        <a:t>-</a:t>
                      </a:r>
                      <a:endParaRPr lang="en-US" sz="1200" u="none" strike="noStrike" kern="1200" dirty="0">
                        <a:solidFill>
                          <a:schemeClr val="dk1"/>
                        </a:solidFill>
                        <a:effectLst/>
                        <a:latin typeface="+mn-lt"/>
                        <a:ea typeface="+mn-ea"/>
                        <a:cs typeface="+mn-cs"/>
                      </a:endParaRPr>
                    </a:p>
                  </a:txBody>
                  <a:tcPr marL="6178" marR="6178" marT="6178" marB="0" anchor="ctr"/>
                </a:tc>
                <a:extLst>
                  <a:ext uri="{0D108BD9-81ED-4DB2-BD59-A6C34878D82A}">
                    <a16:rowId xmlns:a16="http://schemas.microsoft.com/office/drawing/2014/main" val="2550238313"/>
                  </a:ext>
                </a:extLst>
              </a:tr>
            </a:tbl>
          </a:graphicData>
        </a:graphic>
      </p:graphicFrame>
      <p:sp>
        <p:nvSpPr>
          <p:cNvPr id="13" name="Content Placeholder 12"/>
          <p:cNvSpPr>
            <a:spLocks noGrp="1"/>
          </p:cNvSpPr>
          <p:nvPr>
            <p:ph idx="1"/>
          </p:nvPr>
        </p:nvSpPr>
        <p:spPr>
          <a:xfrm>
            <a:off x="609600" y="1414463"/>
            <a:ext cx="10972800" cy="4848225"/>
          </a:xfrm>
        </p:spPr>
        <p:txBody>
          <a:bodyPr/>
          <a:lstStyle/>
          <a:p>
            <a:r>
              <a:rPr lang="en-US" dirty="0"/>
              <a:t>Alpha</a:t>
            </a:r>
          </a:p>
          <a:p>
            <a:endParaRPr lang="en-US" dirty="0"/>
          </a:p>
          <a:p>
            <a:endParaRPr lang="en-US" dirty="0"/>
          </a:p>
          <a:p>
            <a:endParaRPr lang="en-US" dirty="0"/>
          </a:p>
          <a:p>
            <a:endParaRPr lang="en-US" dirty="0"/>
          </a:p>
          <a:p>
            <a:endParaRPr lang="en-US" dirty="0"/>
          </a:p>
          <a:p>
            <a:r>
              <a:rPr lang="en-US" dirty="0"/>
              <a:t>Beta</a:t>
            </a:r>
          </a:p>
        </p:txBody>
      </p:sp>
    </p:spTree>
    <p:extLst>
      <p:ext uri="{BB962C8B-B14F-4D97-AF65-F5344CB8AC3E}">
        <p14:creationId xmlns:p14="http://schemas.microsoft.com/office/powerpoint/2010/main" val="822506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3" name="Content Placeholder 2"/>
          <p:cNvSpPr>
            <a:spLocks noGrp="1"/>
          </p:cNvSpPr>
          <p:nvPr>
            <p:ph idx="1"/>
          </p:nvPr>
        </p:nvSpPr>
        <p:spPr/>
        <p:txBody>
          <a:bodyPr/>
          <a:lstStyle/>
          <a:p>
            <a:r>
              <a:rPr lang="en-US" dirty="0"/>
              <a:t>Beta</a:t>
            </a:r>
          </a:p>
          <a:p>
            <a:endParaRPr lang="en-US" dirty="0"/>
          </a:p>
          <a:p>
            <a:endParaRPr lang="en-US" dirty="0"/>
          </a:p>
          <a:p>
            <a:endParaRPr lang="en-US" dirty="0"/>
          </a:p>
          <a:p>
            <a:endParaRPr lang="en-US" dirty="0"/>
          </a:p>
          <a:p>
            <a:endParaRPr lang="en-US" dirty="0"/>
          </a:p>
          <a:p>
            <a:r>
              <a:rPr lang="en-US" dirty="0"/>
              <a:t>Final</a:t>
            </a:r>
          </a:p>
        </p:txBody>
      </p:sp>
      <p:sp>
        <p:nvSpPr>
          <p:cNvPr id="4" name="Text Placeholder 3"/>
          <p:cNvSpPr>
            <a:spLocks noGrp="1"/>
          </p:cNvSpPr>
          <p:nvPr>
            <p:ph type="body" sz="quarter" idx="12"/>
          </p:nvPr>
        </p:nvSpPr>
        <p:spPr/>
        <p:txBody>
          <a:bodyPr/>
          <a:lstStyle/>
          <a:p>
            <a:endParaRPr lang="en-US" dirty="0"/>
          </a:p>
        </p:txBody>
      </p:sp>
      <p:graphicFrame>
        <p:nvGraphicFramePr>
          <p:cNvPr id="6" name="Content Placeholder 7"/>
          <p:cNvGraphicFramePr>
            <a:graphicFrameLocks/>
          </p:cNvGraphicFramePr>
          <p:nvPr>
            <p:extLst>
              <p:ext uri="{D42A27DB-BD31-4B8C-83A1-F6EECF244321}">
                <p14:modId xmlns:p14="http://schemas.microsoft.com/office/powerpoint/2010/main" val="4163947405"/>
              </p:ext>
            </p:extLst>
          </p:nvPr>
        </p:nvGraphicFramePr>
        <p:xfrm>
          <a:off x="609598" y="4170751"/>
          <a:ext cx="10972802" cy="1704704"/>
        </p:xfrm>
        <a:graphic>
          <a:graphicData uri="http://schemas.openxmlformats.org/drawingml/2006/table">
            <a:tbl>
              <a:tblPr>
                <a:tableStyleId>{69C7853C-536D-4A76-A0AE-DD22124D55A5}</a:tableStyleId>
              </a:tblPr>
              <a:tblGrid>
                <a:gridCol w="529164">
                  <a:extLst>
                    <a:ext uri="{9D8B030D-6E8A-4147-A177-3AD203B41FA5}">
                      <a16:colId xmlns:a16="http://schemas.microsoft.com/office/drawing/2014/main" val="346946463"/>
                    </a:ext>
                  </a:extLst>
                </a:gridCol>
                <a:gridCol w="1036279">
                  <a:extLst>
                    <a:ext uri="{9D8B030D-6E8A-4147-A177-3AD203B41FA5}">
                      <a16:colId xmlns:a16="http://schemas.microsoft.com/office/drawing/2014/main" val="451175974"/>
                    </a:ext>
                  </a:extLst>
                </a:gridCol>
                <a:gridCol w="1080376">
                  <a:extLst>
                    <a:ext uri="{9D8B030D-6E8A-4147-A177-3AD203B41FA5}">
                      <a16:colId xmlns:a16="http://schemas.microsoft.com/office/drawing/2014/main" val="3714523692"/>
                    </a:ext>
                  </a:extLst>
                </a:gridCol>
                <a:gridCol w="1256764">
                  <a:extLst>
                    <a:ext uri="{9D8B030D-6E8A-4147-A177-3AD203B41FA5}">
                      <a16:colId xmlns:a16="http://schemas.microsoft.com/office/drawing/2014/main" val="498413729"/>
                    </a:ext>
                  </a:extLst>
                </a:gridCol>
                <a:gridCol w="1313111">
                  <a:extLst>
                    <a:ext uri="{9D8B030D-6E8A-4147-A177-3AD203B41FA5}">
                      <a16:colId xmlns:a16="http://schemas.microsoft.com/office/drawing/2014/main" val="1355473096"/>
                    </a:ext>
                  </a:extLst>
                </a:gridCol>
                <a:gridCol w="1080376">
                  <a:extLst>
                    <a:ext uri="{9D8B030D-6E8A-4147-A177-3AD203B41FA5}">
                      <a16:colId xmlns:a16="http://schemas.microsoft.com/office/drawing/2014/main" val="1538721378"/>
                    </a:ext>
                  </a:extLst>
                </a:gridCol>
                <a:gridCol w="1205318">
                  <a:extLst>
                    <a:ext uri="{9D8B030D-6E8A-4147-A177-3AD203B41FA5}">
                      <a16:colId xmlns:a16="http://schemas.microsoft.com/office/drawing/2014/main" val="1795406005"/>
                    </a:ext>
                  </a:extLst>
                </a:gridCol>
                <a:gridCol w="1337609">
                  <a:extLst>
                    <a:ext uri="{9D8B030D-6E8A-4147-A177-3AD203B41FA5}">
                      <a16:colId xmlns:a16="http://schemas.microsoft.com/office/drawing/2014/main" val="515828190"/>
                    </a:ext>
                  </a:extLst>
                </a:gridCol>
                <a:gridCol w="1170522">
                  <a:extLst>
                    <a:ext uri="{9D8B030D-6E8A-4147-A177-3AD203B41FA5}">
                      <a16:colId xmlns:a16="http://schemas.microsoft.com/office/drawing/2014/main" val="3713711693"/>
                    </a:ext>
                  </a:extLst>
                </a:gridCol>
                <a:gridCol w="963283">
                  <a:extLst>
                    <a:ext uri="{9D8B030D-6E8A-4147-A177-3AD203B41FA5}">
                      <a16:colId xmlns:a16="http://schemas.microsoft.com/office/drawing/2014/main" val="249202453"/>
                    </a:ext>
                  </a:extLst>
                </a:gridCol>
              </a:tblGrid>
              <a:tr h="56192">
                <a:tc>
                  <a:txBody>
                    <a:bodyPr/>
                    <a:lstStyle/>
                    <a:p>
                      <a:pPr algn="l" fontAlgn="ct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ctr" fontAlgn="ctr"/>
                      <a:r>
                        <a:rPr lang="en-US" sz="1200" u="none" strike="noStrike" dirty="0">
                          <a:effectLst/>
                        </a:rPr>
                        <a:t>case1</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case2</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case3</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caseA</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case4</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case5</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case6</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caseB</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l" fontAlgn="ctr"/>
                      <a:endParaRPr lang="en-US" sz="1200" b="0" i="0" u="none" strike="noStrike" dirty="0">
                        <a:solidFill>
                          <a:srgbClr val="000000"/>
                        </a:solidFill>
                        <a:effectLst/>
                        <a:latin typeface="Calibri" panose="020F0502020204030204" pitchFamily="34" charset="0"/>
                      </a:endParaRPr>
                    </a:p>
                  </a:txBody>
                  <a:tcPr marL="7348" marR="7348" marT="7348" marB="0" anchor="ctr"/>
                </a:tc>
                <a:extLst>
                  <a:ext uri="{0D108BD9-81ED-4DB2-BD59-A6C34878D82A}">
                    <a16:rowId xmlns:a16="http://schemas.microsoft.com/office/drawing/2014/main" val="254621653"/>
                  </a:ext>
                </a:extLst>
              </a:tr>
              <a:tr h="142009">
                <a:tc>
                  <a:txBody>
                    <a:bodyPr/>
                    <a:lstStyle/>
                    <a:p>
                      <a:pPr algn="ctr" fontAlgn="ctr"/>
                      <a:r>
                        <a:rPr lang="en-US" sz="1200" u="none" strike="noStrike" dirty="0">
                          <a:effectLst/>
                        </a:rPr>
                        <a:t>Team</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a:t>
                      </a:r>
                      <a:br>
                        <a:rPr lang="en-US" sz="1200" u="none" strike="noStrike" dirty="0">
                          <a:effectLst/>
                        </a:rPr>
                      </a:br>
                      <a:r>
                        <a:rPr lang="en-US" sz="1200" u="none" strike="noStrike" dirty="0">
                          <a:effectLst/>
                        </a:rPr>
                        <a:t>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a:t>
                      </a:r>
                      <a:br>
                        <a:rPr lang="en-US" sz="1200" u="none" strike="noStrike" dirty="0">
                          <a:effectLst/>
                        </a:rPr>
                      </a:br>
                      <a:r>
                        <a:rPr lang="en-US" sz="1200" u="none" strike="noStrike" dirty="0">
                          <a:effectLst/>
                        </a:rPr>
                        <a:t>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a:t>
                      </a:r>
                      <a:br>
                        <a:rPr lang="en-US" sz="1200" u="none" strike="noStrike" dirty="0">
                          <a:effectLst/>
                        </a:rPr>
                      </a:br>
                      <a:r>
                        <a:rPr lang="en-US" sz="1200" u="none" strike="noStrike" dirty="0">
                          <a:effectLst/>
                        </a:rPr>
                        <a:t>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a:t>
                      </a:r>
                      <a:br>
                        <a:rPr lang="en-US" sz="1200" u="none" strike="noStrike" dirty="0">
                          <a:effectLst/>
                        </a:rPr>
                      </a:br>
                      <a:r>
                        <a:rPr lang="en-US" sz="1200" u="none" strike="noStrike" dirty="0">
                          <a:effectLst/>
                        </a:rPr>
                        <a:t>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a:t>
                      </a:r>
                    </a:p>
                    <a:p>
                      <a:pPr algn="ctr" fontAlgn="ctr"/>
                      <a:r>
                        <a:rPr lang="en-US" sz="1200" u="none" strike="noStrike" dirty="0">
                          <a:effectLst/>
                        </a:rPr>
                        <a:t>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a:t>
                      </a:r>
                    </a:p>
                    <a:p>
                      <a:pPr algn="ctr" fontAlgn="ctr"/>
                      <a:r>
                        <a:rPr lang="en-US" sz="1200" u="none" strike="noStrike" dirty="0">
                          <a:effectLst/>
                        </a:rPr>
                        <a:t>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Cost with </a:t>
                      </a:r>
                      <a:br>
                        <a:rPr lang="en-US" sz="1200" u="none" strike="noStrike" dirty="0">
                          <a:effectLst/>
                        </a:rPr>
                      </a:br>
                      <a:r>
                        <a:rPr lang="en-US" sz="1200" u="none" strike="noStrike" dirty="0">
                          <a:effectLst/>
                        </a:rPr>
                        <a:t>runtime bonus</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tc>
                  <a:txBody>
                    <a:bodyPr/>
                    <a:lstStyle/>
                    <a:p>
                      <a:pPr algn="ctr" fontAlgn="ctr"/>
                      <a:r>
                        <a:rPr lang="en-US" sz="1200" u="none" strike="noStrike" dirty="0">
                          <a:effectLst/>
                        </a:rPr>
                        <a:t>Sum of Cost</a:t>
                      </a:r>
                      <a:endParaRPr 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7348" marR="7348" marT="7348" marB="0" anchor="ctr"/>
                </a:tc>
                <a:extLst>
                  <a:ext uri="{0D108BD9-81ED-4DB2-BD59-A6C34878D82A}">
                    <a16:rowId xmlns:a16="http://schemas.microsoft.com/office/drawing/2014/main" val="3332189793"/>
                  </a:ext>
                </a:extLst>
              </a:tr>
              <a:tr h="154305">
                <a:tc>
                  <a:txBody>
                    <a:bodyPr/>
                    <a:lstStyle/>
                    <a:p>
                      <a:pPr algn="r" fontAlgn="ctr"/>
                      <a:r>
                        <a:rPr lang="en-US" sz="1200" u="none" strike="noStrike" dirty="0">
                          <a:effectLst/>
                        </a:rPr>
                        <a:t>Top1</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3264.3</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58868.1</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664135.2</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1136219.4</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8998.2</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19053.9</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1465547.0</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4794177.6</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8150263.7</a:t>
                      </a:r>
                      <a:endParaRPr lang="en-US" sz="1200" b="0" i="0" u="none" strike="noStrike" dirty="0">
                        <a:solidFill>
                          <a:srgbClr val="000000"/>
                        </a:solidFill>
                        <a:effectLst/>
                        <a:latin typeface="Calibri" panose="020F0502020204030204" pitchFamily="34" charset="0"/>
                      </a:endParaRPr>
                    </a:p>
                  </a:txBody>
                  <a:tcPr marL="7348" marR="7348" marT="7348" marB="0" anchor="ctr"/>
                </a:tc>
                <a:extLst>
                  <a:ext uri="{0D108BD9-81ED-4DB2-BD59-A6C34878D82A}">
                    <a16:rowId xmlns:a16="http://schemas.microsoft.com/office/drawing/2014/main" val="1244053532"/>
                  </a:ext>
                </a:extLst>
              </a:tr>
              <a:tr h="154305">
                <a:tc>
                  <a:txBody>
                    <a:bodyPr/>
                    <a:lstStyle/>
                    <a:p>
                      <a:pPr algn="r" fontAlgn="ctr"/>
                      <a:r>
                        <a:rPr lang="en-US" sz="1200" u="none" strike="noStrike" kern="1200" dirty="0">
                          <a:effectLst/>
                        </a:rPr>
                        <a:t>Top2</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dirty="0">
                          <a:effectLst/>
                        </a:rPr>
                        <a:t>3238.2</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59565.6</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692782.2</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1153764.9</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8756.1</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19727.1</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1424065.5</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4801906.8</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8163806.4</a:t>
                      </a:r>
                      <a:endParaRPr lang="en-US" sz="1200" b="0" i="0" u="none" strike="noStrike" dirty="0">
                        <a:solidFill>
                          <a:srgbClr val="000000"/>
                        </a:solidFill>
                        <a:effectLst/>
                        <a:latin typeface="Calibri" panose="020F0502020204030204" pitchFamily="34" charset="0"/>
                      </a:endParaRPr>
                    </a:p>
                  </a:txBody>
                  <a:tcPr marL="7348" marR="7348" marT="7348" marB="0" anchor="ctr"/>
                </a:tc>
                <a:extLst>
                  <a:ext uri="{0D108BD9-81ED-4DB2-BD59-A6C34878D82A}">
                    <a16:rowId xmlns:a16="http://schemas.microsoft.com/office/drawing/2014/main" val="3600853888"/>
                  </a:ext>
                </a:extLst>
              </a:tr>
              <a:tr h="154305">
                <a:tc>
                  <a:txBody>
                    <a:bodyPr/>
                    <a:lstStyle/>
                    <a:p>
                      <a:pPr algn="r" fontAlgn="ctr"/>
                      <a:r>
                        <a:rPr lang="en-US" sz="1200" u="none" strike="noStrike" kern="1200" dirty="0">
                          <a:effectLst/>
                        </a:rPr>
                        <a:t>Top3</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dirty="0">
                          <a:effectLst/>
                        </a:rPr>
                        <a:t>3238.2</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64725.0</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696948.5</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1198014.6</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9380.7</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19719.2</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1387701.9</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4792124.7</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8171852.8</a:t>
                      </a:r>
                      <a:endParaRPr lang="en-US" sz="1200" b="0" i="0" u="none" strike="noStrike" dirty="0">
                        <a:solidFill>
                          <a:srgbClr val="000000"/>
                        </a:solidFill>
                        <a:effectLst/>
                        <a:latin typeface="Calibri" panose="020F0502020204030204" pitchFamily="34" charset="0"/>
                      </a:endParaRPr>
                    </a:p>
                  </a:txBody>
                  <a:tcPr marL="7348" marR="7348" marT="7348" marB="0" anchor="ctr"/>
                </a:tc>
                <a:extLst>
                  <a:ext uri="{0D108BD9-81ED-4DB2-BD59-A6C34878D82A}">
                    <a16:rowId xmlns:a16="http://schemas.microsoft.com/office/drawing/2014/main" val="1094581010"/>
                  </a:ext>
                </a:extLst>
              </a:tr>
              <a:tr h="154305">
                <a:tc>
                  <a:txBody>
                    <a:bodyPr/>
                    <a:lstStyle/>
                    <a:p>
                      <a:pPr algn="r" fontAlgn="ctr"/>
                      <a:r>
                        <a:rPr lang="en-US" sz="1200" u="none" strike="noStrike" dirty="0">
                          <a:effectLst/>
                        </a:rPr>
                        <a:t>Top4</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3397.2</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62118.6</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663411.6</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1140454.8</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9738.0</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19771.4</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1391601.6</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5175015.8</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8465509.0</a:t>
                      </a:r>
                      <a:endParaRPr lang="en-US" sz="1200" b="0" i="0" u="none" strike="noStrike" dirty="0">
                        <a:solidFill>
                          <a:srgbClr val="000000"/>
                        </a:solidFill>
                        <a:effectLst/>
                        <a:latin typeface="Calibri" panose="020F0502020204030204" pitchFamily="34" charset="0"/>
                      </a:endParaRPr>
                    </a:p>
                  </a:txBody>
                  <a:tcPr marL="7348" marR="7348" marT="7348" marB="0" anchor="ctr"/>
                </a:tc>
                <a:extLst>
                  <a:ext uri="{0D108BD9-81ED-4DB2-BD59-A6C34878D82A}">
                    <a16:rowId xmlns:a16="http://schemas.microsoft.com/office/drawing/2014/main" val="2595986636"/>
                  </a:ext>
                </a:extLst>
              </a:tr>
              <a:tr h="154305">
                <a:tc>
                  <a:txBody>
                    <a:bodyPr/>
                    <a:lstStyle/>
                    <a:p>
                      <a:pPr algn="r" fontAlgn="ctr"/>
                      <a:r>
                        <a:rPr lang="en-US" sz="1200" u="none" strike="noStrike" dirty="0">
                          <a:effectLst/>
                        </a:rPr>
                        <a:t>Top5</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3424.8</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62781.7</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691474.5</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1217632.1</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9305.3</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21023.5</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1497013.8</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5068548.3</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8571203.9</a:t>
                      </a:r>
                      <a:endParaRPr lang="en-US" sz="1200" b="0" i="0" u="none" strike="noStrike" dirty="0">
                        <a:solidFill>
                          <a:srgbClr val="000000"/>
                        </a:solidFill>
                        <a:effectLst/>
                        <a:latin typeface="Calibri" panose="020F0502020204030204" pitchFamily="34" charset="0"/>
                      </a:endParaRPr>
                    </a:p>
                  </a:txBody>
                  <a:tcPr marL="7348" marR="7348" marT="7348" marB="0" anchor="ctr"/>
                </a:tc>
                <a:extLst>
                  <a:ext uri="{0D108BD9-81ED-4DB2-BD59-A6C34878D82A}">
                    <a16:rowId xmlns:a16="http://schemas.microsoft.com/office/drawing/2014/main" val="1889220953"/>
                  </a:ext>
                </a:extLst>
              </a:tr>
              <a:tr h="154305">
                <a:tc>
                  <a:txBody>
                    <a:bodyPr/>
                    <a:lstStyle/>
                    <a:p>
                      <a:pPr algn="r" fontAlgn="ctr"/>
                      <a:r>
                        <a:rPr lang="en-US" sz="1200" u="none" strike="noStrike" dirty="0">
                          <a:effectLst/>
                        </a:rPr>
                        <a:t>Top6</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3548.0</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65647.0</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715172.4</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1210209.8</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9266.3</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21451.0</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1485483.7</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5065288.9</a:t>
                      </a:r>
                      <a:endParaRPr lang="en-US" sz="1200" b="0"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dirty="0">
                          <a:effectLst/>
                        </a:rPr>
                        <a:t>8576066.9</a:t>
                      </a:r>
                      <a:endParaRPr lang="en-US" sz="1200" b="0" i="0" u="none" strike="noStrike" dirty="0">
                        <a:solidFill>
                          <a:srgbClr val="000000"/>
                        </a:solidFill>
                        <a:effectLst/>
                        <a:latin typeface="Calibri" panose="020F0502020204030204" pitchFamily="34" charset="0"/>
                      </a:endParaRPr>
                    </a:p>
                  </a:txBody>
                  <a:tcPr marL="7348" marR="7348" marT="7348" marB="0" anchor="ctr"/>
                </a:tc>
                <a:extLst>
                  <a:ext uri="{0D108BD9-81ED-4DB2-BD59-A6C34878D82A}">
                    <a16:rowId xmlns:a16="http://schemas.microsoft.com/office/drawing/2014/main" val="2336907147"/>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766011221"/>
              </p:ext>
            </p:extLst>
          </p:nvPr>
        </p:nvGraphicFramePr>
        <p:xfrm>
          <a:off x="609603" y="1833104"/>
          <a:ext cx="10972797" cy="1709592"/>
        </p:xfrm>
        <a:graphic>
          <a:graphicData uri="http://schemas.openxmlformats.org/drawingml/2006/table">
            <a:tbl>
              <a:tblPr>
                <a:tableStyleId>{284E427A-3D55-4303-BF80-6455036E1DE7}</a:tableStyleId>
              </a:tblPr>
              <a:tblGrid>
                <a:gridCol w="527045">
                  <a:extLst>
                    <a:ext uri="{9D8B030D-6E8A-4147-A177-3AD203B41FA5}">
                      <a16:colId xmlns:a16="http://schemas.microsoft.com/office/drawing/2014/main" val="2697111677"/>
                    </a:ext>
                  </a:extLst>
                </a:gridCol>
                <a:gridCol w="1031875">
                  <a:extLst>
                    <a:ext uri="{9D8B030D-6E8A-4147-A177-3AD203B41FA5}">
                      <a16:colId xmlns:a16="http://schemas.microsoft.com/office/drawing/2014/main" val="559937443"/>
                    </a:ext>
                  </a:extLst>
                </a:gridCol>
                <a:gridCol w="1089025">
                  <a:extLst>
                    <a:ext uri="{9D8B030D-6E8A-4147-A177-3AD203B41FA5}">
                      <a16:colId xmlns:a16="http://schemas.microsoft.com/office/drawing/2014/main" val="2198031320"/>
                    </a:ext>
                  </a:extLst>
                </a:gridCol>
                <a:gridCol w="1254125">
                  <a:extLst>
                    <a:ext uri="{9D8B030D-6E8A-4147-A177-3AD203B41FA5}">
                      <a16:colId xmlns:a16="http://schemas.microsoft.com/office/drawing/2014/main" val="1553447867"/>
                    </a:ext>
                  </a:extLst>
                </a:gridCol>
                <a:gridCol w="1303338">
                  <a:extLst>
                    <a:ext uri="{9D8B030D-6E8A-4147-A177-3AD203B41FA5}">
                      <a16:colId xmlns:a16="http://schemas.microsoft.com/office/drawing/2014/main" val="2605985894"/>
                    </a:ext>
                  </a:extLst>
                </a:gridCol>
                <a:gridCol w="1090612">
                  <a:extLst>
                    <a:ext uri="{9D8B030D-6E8A-4147-A177-3AD203B41FA5}">
                      <a16:colId xmlns:a16="http://schemas.microsoft.com/office/drawing/2014/main" val="2199914685"/>
                    </a:ext>
                  </a:extLst>
                </a:gridCol>
                <a:gridCol w="1204913">
                  <a:extLst>
                    <a:ext uri="{9D8B030D-6E8A-4147-A177-3AD203B41FA5}">
                      <a16:colId xmlns:a16="http://schemas.microsoft.com/office/drawing/2014/main" val="4046465278"/>
                    </a:ext>
                  </a:extLst>
                </a:gridCol>
                <a:gridCol w="1348525">
                  <a:extLst>
                    <a:ext uri="{9D8B030D-6E8A-4147-A177-3AD203B41FA5}">
                      <a16:colId xmlns:a16="http://schemas.microsoft.com/office/drawing/2014/main" val="1431831263"/>
                    </a:ext>
                  </a:extLst>
                </a:gridCol>
                <a:gridCol w="1168689">
                  <a:extLst>
                    <a:ext uri="{9D8B030D-6E8A-4147-A177-3AD203B41FA5}">
                      <a16:colId xmlns:a16="http://schemas.microsoft.com/office/drawing/2014/main" val="329774261"/>
                    </a:ext>
                  </a:extLst>
                </a:gridCol>
                <a:gridCol w="954650">
                  <a:extLst>
                    <a:ext uri="{9D8B030D-6E8A-4147-A177-3AD203B41FA5}">
                      <a16:colId xmlns:a16="http://schemas.microsoft.com/office/drawing/2014/main" val="3742994379"/>
                    </a:ext>
                  </a:extLst>
                </a:gridCol>
              </a:tblGrid>
              <a:tr h="118728">
                <a:tc>
                  <a:txBody>
                    <a:bodyPr/>
                    <a:lstStyle/>
                    <a:p>
                      <a:pPr algn="l" fontAlgn="ct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case1</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case3</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caseA</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caseB</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l" fontAlgn="ct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3672489878"/>
                  </a:ext>
                </a:extLst>
              </a:tr>
              <a:tr h="270683">
                <a:tc>
                  <a:txBody>
                    <a:bodyPr/>
                    <a:lstStyle/>
                    <a:p>
                      <a:pPr algn="ctr" fontAlgn="ctr"/>
                      <a:r>
                        <a:rPr lang="en-US" sz="1200" u="none" strike="noStrike" kern="1200" dirty="0">
                          <a:effectLst/>
                        </a:rPr>
                        <a:t>Team</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br>
                        <a:rPr lang="en-US" sz="1200" u="none" strike="noStrike" kern="1200" dirty="0">
                          <a:effectLst/>
                        </a:rPr>
                      </a:b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a:t>
                      </a:r>
                    </a:p>
                    <a:p>
                      <a:pPr algn="ctr" fontAlgn="ctr"/>
                      <a:r>
                        <a:rPr lang="en-US" sz="1200" u="none" strike="noStrike" kern="1200" dirty="0">
                          <a:effectLst/>
                        </a:rPr>
                        <a:t>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Cost with runtime bonus</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ctr" fontAlgn="ctr"/>
                      <a:r>
                        <a:rPr lang="en-US" sz="1200" u="none" strike="noStrike" kern="1200" dirty="0">
                          <a:effectLst/>
                        </a:rPr>
                        <a:t>sum of Cost</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1745261319"/>
                  </a:ext>
                </a:extLst>
              </a:tr>
              <a:tr h="175098">
                <a:tc>
                  <a:txBody>
                    <a:bodyPr/>
                    <a:lstStyle/>
                    <a:p>
                      <a:pPr algn="r" fontAlgn="ctr"/>
                      <a:r>
                        <a:rPr lang="en-US" sz="1200" u="none" strike="noStrike" dirty="0">
                          <a:effectLst/>
                        </a:rPr>
                        <a:t>Top1</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3373.5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65532.0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774949.2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1243805.6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8730.9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23102.0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1451527.2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4800562.2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8371582.5</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3707963873"/>
                  </a:ext>
                </a:extLst>
              </a:tr>
              <a:tr h="175098">
                <a:tc>
                  <a:txBody>
                    <a:bodyPr/>
                    <a:lstStyle/>
                    <a:p>
                      <a:pPr algn="r" fontAlgn="ctr"/>
                      <a:r>
                        <a:rPr lang="en-US" sz="1200" u="none" strike="noStrike" kern="1200" dirty="0">
                          <a:effectLst/>
                        </a:rPr>
                        <a:t>Top2</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3501.9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62834.4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793566.9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1221963.3</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9336.6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26946.0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1589137.2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4920687.0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8627973.3</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1351817921"/>
                  </a:ext>
                </a:extLst>
              </a:tr>
              <a:tr h="175098">
                <a:tc>
                  <a:txBody>
                    <a:bodyPr/>
                    <a:lstStyle/>
                    <a:p>
                      <a:pPr algn="r" fontAlgn="ctr"/>
                      <a:r>
                        <a:rPr lang="en-US" sz="1200" u="none" strike="noStrike" kern="1200" dirty="0">
                          <a:effectLst/>
                        </a:rPr>
                        <a:t>Top3</a:t>
                      </a:r>
                      <a:endParaRPr lang="en-US" sz="1200" u="none" strike="noStrike" kern="1200" dirty="0">
                        <a:solidFill>
                          <a:schemeClr val="dk1"/>
                        </a:solidFill>
                        <a:effectLst/>
                        <a:latin typeface="+mn-lt"/>
                        <a:ea typeface="+mn-ea"/>
                        <a:cs typeface="+mn-cs"/>
                      </a:endParaRPr>
                    </a:p>
                  </a:txBody>
                  <a:tcPr marL="7348" marR="7348" marT="7348" marB="0" anchor="ctr"/>
                </a:tc>
                <a:tc>
                  <a:txBody>
                    <a:bodyPr/>
                    <a:lstStyle/>
                    <a:p>
                      <a:pPr algn="r" fontAlgn="ctr"/>
                      <a:r>
                        <a:rPr lang="en-US" sz="1200" u="none" strike="noStrike" kern="1200" dirty="0">
                          <a:effectLst/>
                        </a:rPr>
                        <a:t>3589.0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67766.0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743067.2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1231049.0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9831.0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22772.0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1529955.1</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5137222.9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8745252.1</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131146399"/>
                  </a:ext>
                </a:extLst>
              </a:tr>
              <a:tr h="135330">
                <a:tc>
                  <a:txBody>
                    <a:bodyPr/>
                    <a:lstStyle/>
                    <a:p>
                      <a:pPr algn="r" fontAlgn="ctr"/>
                      <a:r>
                        <a:rPr lang="en-US" sz="1200" u="none" strike="noStrike" dirty="0">
                          <a:effectLst/>
                        </a:rPr>
                        <a:t>Top4</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3945.4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71829.5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883606.0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1358057.0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10544.0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29694.2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1746400.0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5485610.0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9589686.0</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2422381112"/>
                  </a:ext>
                </a:extLst>
              </a:tr>
              <a:tr h="175098">
                <a:tc>
                  <a:txBody>
                    <a:bodyPr/>
                    <a:lstStyle/>
                    <a:p>
                      <a:pPr algn="r" fontAlgn="ctr"/>
                      <a:r>
                        <a:rPr lang="en-US" sz="1200" u="none" strike="noStrike" dirty="0">
                          <a:effectLst/>
                        </a:rPr>
                        <a:t>Top5</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5346.0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79032.6</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1308958.2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1588569.3</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9828.0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53983.8</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2529135.0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5509345.5</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11084198.4</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2097946718"/>
                  </a:ext>
                </a:extLst>
              </a:tr>
              <a:tr h="175098">
                <a:tc>
                  <a:txBody>
                    <a:bodyPr/>
                    <a:lstStyle/>
                    <a:p>
                      <a:pPr algn="r" fontAlgn="ctr"/>
                      <a:r>
                        <a:rPr lang="en-US" sz="1200" u="none" strike="noStrike" dirty="0">
                          <a:effectLst/>
                        </a:rPr>
                        <a:t>Top6</a:t>
                      </a:r>
                      <a:endParaRPr lang="en-US" sz="1200" b="1" i="0" u="none" strike="noStrike" dirty="0">
                        <a:solidFill>
                          <a:srgbClr val="000000"/>
                        </a:solidFill>
                        <a:effectLst/>
                        <a:latin typeface="Calibri" panose="020F0502020204030204" pitchFamily="34" charset="0"/>
                      </a:endParaRPr>
                    </a:p>
                  </a:txBody>
                  <a:tcPr marL="7348" marR="7348" marT="7348" marB="0" anchor="ctr"/>
                </a:tc>
                <a:tc>
                  <a:txBody>
                    <a:bodyPr/>
                    <a:lstStyle/>
                    <a:p>
                      <a:pPr algn="r" fontAlgn="ctr"/>
                      <a:r>
                        <a:rPr lang="en-US" sz="1200" u="none" strike="noStrike" kern="1200" dirty="0">
                          <a:effectLst/>
                        </a:rPr>
                        <a:t>4803.2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83946.8</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1120525.0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1679905.0</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11668.9</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42489.7</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2394072.2</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6340824.4</a:t>
                      </a:r>
                      <a:endParaRPr lang="en-US" sz="1200" u="none" strike="noStrike" kern="1200" dirty="0">
                        <a:solidFill>
                          <a:schemeClr val="dk1"/>
                        </a:solidFill>
                        <a:effectLst/>
                        <a:latin typeface="+mn-lt"/>
                        <a:ea typeface="+mn-ea"/>
                        <a:cs typeface="+mn-cs"/>
                      </a:endParaRPr>
                    </a:p>
                  </a:txBody>
                  <a:tcPr marL="7959" marR="7959" marT="7959" marB="0" anchor="ctr"/>
                </a:tc>
                <a:tc>
                  <a:txBody>
                    <a:bodyPr/>
                    <a:lstStyle/>
                    <a:p>
                      <a:pPr algn="r" fontAlgn="ctr"/>
                      <a:r>
                        <a:rPr lang="en-US" sz="1200" u="none" strike="noStrike" kern="1200" dirty="0">
                          <a:effectLst/>
                        </a:rPr>
                        <a:t>11678235.1</a:t>
                      </a:r>
                      <a:endParaRPr lang="en-US" sz="1200" u="none" strike="noStrike" kern="1200" dirty="0">
                        <a:solidFill>
                          <a:schemeClr val="dk1"/>
                        </a:solidFill>
                        <a:effectLst/>
                        <a:latin typeface="+mn-lt"/>
                        <a:ea typeface="+mn-ea"/>
                        <a:cs typeface="+mn-cs"/>
                      </a:endParaRPr>
                    </a:p>
                  </a:txBody>
                  <a:tcPr marL="7959" marR="7959" marT="7959" marB="0" anchor="ctr"/>
                </a:tc>
                <a:extLst>
                  <a:ext uri="{0D108BD9-81ED-4DB2-BD59-A6C34878D82A}">
                    <a16:rowId xmlns:a16="http://schemas.microsoft.com/office/drawing/2014/main" val="606832858"/>
                  </a:ext>
                </a:extLst>
              </a:tr>
            </a:tbl>
          </a:graphicData>
        </a:graphic>
      </p:graphicFrame>
    </p:spTree>
    <p:extLst>
      <p:ext uri="{BB962C8B-B14F-4D97-AF65-F5344CB8AC3E}">
        <p14:creationId xmlns:p14="http://schemas.microsoft.com/office/powerpoint/2010/main" val="4293227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3" name="Content Placeholder 2"/>
          <p:cNvSpPr>
            <a:spLocks noGrp="1"/>
          </p:cNvSpPr>
          <p:nvPr>
            <p:ph idx="1"/>
          </p:nvPr>
        </p:nvSpPr>
        <p:spPr/>
        <p:txBody>
          <a:bodyPr/>
          <a:lstStyle/>
          <a:p>
            <a:r>
              <a:rPr lang="en-US" dirty="0"/>
              <a:t>case3 overall cost</a:t>
            </a:r>
            <a:br>
              <a:rPr lang="en-US" dirty="0"/>
            </a:br>
            <a:r>
              <a:rPr lang="en-US" dirty="0"/>
              <a:t>w/o runtime bonus</a:t>
            </a:r>
          </a:p>
        </p:txBody>
      </p:sp>
      <p:sp>
        <p:nvSpPr>
          <p:cNvPr id="4" name="Text Placeholder 3"/>
          <p:cNvSpPr>
            <a:spLocks noGrp="1"/>
          </p:cNvSpPr>
          <p:nvPr>
            <p:ph type="body" sz="quarter" idx="12"/>
          </p:nvPr>
        </p:nvSpPr>
        <p:spPr/>
        <p:txBody>
          <a:bodyPr/>
          <a:lstStyle/>
          <a:p>
            <a:r>
              <a:rPr lang="en-US" dirty="0"/>
              <a:t>case3</a:t>
            </a:r>
          </a:p>
        </p:txBody>
      </p:sp>
      <p:sp>
        <p:nvSpPr>
          <p:cNvPr id="5" name="語音泡泡: 圓角矩形 4">
            <a:extLst>
              <a:ext uri="{FF2B5EF4-FFF2-40B4-BE49-F238E27FC236}">
                <a16:creationId xmlns:a16="http://schemas.microsoft.com/office/drawing/2014/main" id="{2EBF8811-817F-4500-9F5D-0C9900F1950E}"/>
              </a:ext>
            </a:extLst>
          </p:cNvPr>
          <p:cNvSpPr/>
          <p:nvPr/>
        </p:nvSpPr>
        <p:spPr>
          <a:xfrm>
            <a:off x="10215715" y="2848896"/>
            <a:ext cx="1534026" cy="1042219"/>
          </a:xfrm>
          <a:prstGeom prst="wedgeRoundRectCallout">
            <a:avLst>
              <a:gd name="adj1" fmla="val -50488"/>
              <a:gd name="adj2" fmla="val 87972"/>
              <a:gd name="adj3" fmla="val 1666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00" dirty="0">
                <a:solidFill>
                  <a:srgbClr val="002060"/>
                </a:solidFill>
              </a:rPr>
              <a:t>More </a:t>
            </a:r>
            <a:r>
              <a:rPr lang="en-US" altLang="zh-TW" sz="1800" dirty="0" err="1">
                <a:solidFill>
                  <a:srgbClr val="002060"/>
                </a:solidFill>
              </a:rPr>
              <a:t>vias</a:t>
            </a:r>
            <a:r>
              <a:rPr lang="en-US" altLang="zh-TW" sz="1800" dirty="0">
                <a:solidFill>
                  <a:srgbClr val="002060"/>
                </a:solidFill>
              </a:rPr>
              <a:t> used</a:t>
            </a:r>
            <a:endParaRPr lang="zh-TW" altLang="en-US" sz="1800" dirty="0">
              <a:solidFill>
                <a:srgbClr val="002060"/>
              </a:solidFill>
            </a:endParaRPr>
          </a:p>
        </p:txBody>
      </p:sp>
      <p:graphicFrame>
        <p:nvGraphicFramePr>
          <p:cNvPr id="9" name="Chart 5">
            <a:extLst>
              <a:ext uri="{FF2B5EF4-FFF2-40B4-BE49-F238E27FC236}">
                <a16:creationId xmlns:a16="http://schemas.microsoft.com/office/drawing/2014/main" id="{00000000-0008-0000-0200-000006000000}"/>
              </a:ext>
            </a:extLst>
          </p:cNvPr>
          <p:cNvGraphicFramePr>
            <a:graphicFrameLocks/>
          </p:cNvGraphicFramePr>
          <p:nvPr>
            <p:extLst>
              <p:ext uri="{D42A27DB-BD31-4B8C-83A1-F6EECF244321}">
                <p14:modId xmlns:p14="http://schemas.microsoft.com/office/powerpoint/2010/main" val="1008891233"/>
              </p:ext>
            </p:extLst>
          </p:nvPr>
        </p:nvGraphicFramePr>
        <p:xfrm>
          <a:off x="4022466" y="672532"/>
          <a:ext cx="4147068" cy="28248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7">
            <a:extLst>
              <a:ext uri="{FF2B5EF4-FFF2-40B4-BE49-F238E27FC236}">
                <a16:creationId xmlns:a16="http://schemas.microsoft.com/office/drawing/2014/main" id="{00000000-0008-0000-0200-000008000000}"/>
              </a:ext>
            </a:extLst>
          </p:cNvPr>
          <p:cNvGraphicFramePr>
            <a:graphicFrameLocks/>
          </p:cNvGraphicFramePr>
          <p:nvPr>
            <p:extLst>
              <p:ext uri="{D42A27DB-BD31-4B8C-83A1-F6EECF244321}">
                <p14:modId xmlns:p14="http://schemas.microsoft.com/office/powerpoint/2010/main" val="2744120169"/>
              </p:ext>
            </p:extLst>
          </p:nvPr>
        </p:nvGraphicFramePr>
        <p:xfrm>
          <a:off x="1346748" y="3556907"/>
          <a:ext cx="4254500" cy="282484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6">
            <a:extLst>
              <a:ext uri="{FF2B5EF4-FFF2-40B4-BE49-F238E27FC236}">
                <a16:creationId xmlns:a16="http://schemas.microsoft.com/office/drawing/2014/main" id="{00000000-0008-0000-0200-000007000000}"/>
              </a:ext>
            </a:extLst>
          </p:cNvPr>
          <p:cNvGraphicFramePr>
            <a:graphicFrameLocks/>
          </p:cNvGraphicFramePr>
          <p:nvPr>
            <p:extLst>
              <p:ext uri="{D42A27DB-BD31-4B8C-83A1-F6EECF244321}">
                <p14:modId xmlns:p14="http://schemas.microsoft.com/office/powerpoint/2010/main" val="1768406514"/>
              </p:ext>
            </p:extLst>
          </p:nvPr>
        </p:nvGraphicFramePr>
        <p:xfrm>
          <a:off x="6338395" y="3556907"/>
          <a:ext cx="4254500" cy="282484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81550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3" name="Content Placeholder 2"/>
          <p:cNvSpPr>
            <a:spLocks noGrp="1"/>
          </p:cNvSpPr>
          <p:nvPr>
            <p:ph idx="1"/>
          </p:nvPr>
        </p:nvSpPr>
        <p:spPr/>
        <p:txBody>
          <a:bodyPr/>
          <a:lstStyle/>
          <a:p>
            <a:r>
              <a:rPr lang="en-US" dirty="0"/>
              <a:t>Vias &amp; stacked via</a:t>
            </a:r>
          </a:p>
        </p:txBody>
      </p:sp>
      <p:sp>
        <p:nvSpPr>
          <p:cNvPr id="4" name="Text Placeholder 3"/>
          <p:cNvSpPr>
            <a:spLocks noGrp="1"/>
          </p:cNvSpPr>
          <p:nvPr>
            <p:ph type="body" sz="quarter" idx="12"/>
          </p:nvPr>
        </p:nvSpPr>
        <p:spPr/>
        <p:txBody>
          <a:bodyPr/>
          <a:lstStyle/>
          <a:p>
            <a:r>
              <a:rPr lang="en-US" dirty="0"/>
              <a:t>case3</a:t>
            </a:r>
          </a:p>
        </p:txBody>
      </p:sp>
      <p:graphicFrame>
        <p:nvGraphicFramePr>
          <p:cNvPr id="7" name="Chart 6"/>
          <p:cNvGraphicFramePr>
            <a:graphicFrameLocks/>
          </p:cNvGraphicFramePr>
          <p:nvPr>
            <p:extLst>
              <p:ext uri="{D42A27DB-BD31-4B8C-83A1-F6EECF244321}">
                <p14:modId xmlns:p14="http://schemas.microsoft.com/office/powerpoint/2010/main" val="557652783"/>
              </p:ext>
            </p:extLst>
          </p:nvPr>
        </p:nvGraphicFramePr>
        <p:xfrm>
          <a:off x="1386348" y="1772198"/>
          <a:ext cx="9360310" cy="42476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7897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3" name="Content Placeholder 2"/>
          <p:cNvSpPr>
            <a:spLocks noGrp="1"/>
          </p:cNvSpPr>
          <p:nvPr>
            <p:ph sz="half" idx="1"/>
          </p:nvPr>
        </p:nvSpPr>
        <p:spPr/>
        <p:txBody>
          <a:bodyPr/>
          <a:lstStyle/>
          <a:p>
            <a:r>
              <a:rPr lang="en-US" dirty="0"/>
              <a:t>Runtime (Elapsed real time)</a:t>
            </a:r>
          </a:p>
        </p:txBody>
      </p:sp>
      <p:sp>
        <p:nvSpPr>
          <p:cNvPr id="6" name="Content Placeholder 5"/>
          <p:cNvSpPr>
            <a:spLocks noGrp="1"/>
          </p:cNvSpPr>
          <p:nvPr>
            <p:ph sz="half" idx="2"/>
          </p:nvPr>
        </p:nvSpPr>
        <p:spPr/>
        <p:txBody>
          <a:bodyPr/>
          <a:lstStyle/>
          <a:p>
            <a:r>
              <a:rPr lang="en-US" dirty="0"/>
              <a:t>CPU time / Elapsed real time</a:t>
            </a:r>
          </a:p>
        </p:txBody>
      </p:sp>
      <p:sp>
        <p:nvSpPr>
          <p:cNvPr id="7" name="Text Placeholder 6"/>
          <p:cNvSpPr>
            <a:spLocks noGrp="1"/>
          </p:cNvSpPr>
          <p:nvPr>
            <p:ph type="body" sz="quarter" idx="12"/>
          </p:nvPr>
        </p:nvSpPr>
        <p:spPr/>
        <p:txBody>
          <a:bodyPr/>
          <a:lstStyle/>
          <a:p>
            <a:r>
              <a:rPr lang="en-US" dirty="0"/>
              <a:t>case3</a:t>
            </a:r>
          </a:p>
        </p:txBody>
      </p:sp>
      <p:graphicFrame>
        <p:nvGraphicFramePr>
          <p:cNvPr id="5" name="Chart 4"/>
          <p:cNvGraphicFramePr>
            <a:graphicFrameLocks/>
          </p:cNvGraphicFramePr>
          <p:nvPr>
            <p:extLst>
              <p:ext uri="{D42A27DB-BD31-4B8C-83A1-F6EECF244321}">
                <p14:modId xmlns:p14="http://schemas.microsoft.com/office/powerpoint/2010/main" val="3963070267"/>
              </p:ext>
            </p:extLst>
          </p:nvPr>
        </p:nvGraphicFramePr>
        <p:xfrm>
          <a:off x="1016000" y="2065026"/>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44027179"/>
              </p:ext>
            </p:extLst>
          </p:nvPr>
        </p:nvGraphicFramePr>
        <p:xfrm>
          <a:off x="6292645" y="2422800"/>
          <a:ext cx="5152103" cy="2027652"/>
        </p:xfrm>
        <a:graphic>
          <a:graphicData uri="http://schemas.openxmlformats.org/drawingml/2006/table">
            <a:tbl>
              <a:tblPr>
                <a:tableStyleId>{69CF1AB2-1976-4502-BF36-3FF5EA218861}</a:tableStyleId>
              </a:tblPr>
              <a:tblGrid>
                <a:gridCol w="698090">
                  <a:extLst>
                    <a:ext uri="{9D8B030D-6E8A-4147-A177-3AD203B41FA5}">
                      <a16:colId xmlns:a16="http://schemas.microsoft.com/office/drawing/2014/main" val="3790342078"/>
                    </a:ext>
                  </a:extLst>
                </a:gridCol>
                <a:gridCol w="1101213">
                  <a:extLst>
                    <a:ext uri="{9D8B030D-6E8A-4147-A177-3AD203B41FA5}">
                      <a16:colId xmlns:a16="http://schemas.microsoft.com/office/drawing/2014/main" val="2599248091"/>
                    </a:ext>
                  </a:extLst>
                </a:gridCol>
                <a:gridCol w="1111046">
                  <a:extLst>
                    <a:ext uri="{9D8B030D-6E8A-4147-A177-3AD203B41FA5}">
                      <a16:colId xmlns:a16="http://schemas.microsoft.com/office/drawing/2014/main" val="2290706066"/>
                    </a:ext>
                  </a:extLst>
                </a:gridCol>
                <a:gridCol w="1140541">
                  <a:extLst>
                    <a:ext uri="{9D8B030D-6E8A-4147-A177-3AD203B41FA5}">
                      <a16:colId xmlns:a16="http://schemas.microsoft.com/office/drawing/2014/main" val="4138190397"/>
                    </a:ext>
                  </a:extLst>
                </a:gridCol>
                <a:gridCol w="1101213">
                  <a:extLst>
                    <a:ext uri="{9D8B030D-6E8A-4147-A177-3AD203B41FA5}">
                      <a16:colId xmlns:a16="http://schemas.microsoft.com/office/drawing/2014/main" val="3041759278"/>
                    </a:ext>
                  </a:extLst>
                </a:gridCol>
              </a:tblGrid>
              <a:tr h="493564">
                <a:tc>
                  <a:txBody>
                    <a:bodyPr/>
                    <a:lstStyle/>
                    <a:p>
                      <a:pPr algn="ctr" fontAlgn="b"/>
                      <a:endParaRPr lang="en-US" sz="20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a:r>
                        <a:rPr lang="en-US" altLang="zh-TW" sz="1600" dirty="0"/>
                        <a:t>top1-</a:t>
                      </a:r>
                    </a:p>
                    <a:p>
                      <a:pPr algn="ctr"/>
                      <a:r>
                        <a:rPr lang="en-US" altLang="zh-TW" sz="1600" dirty="0"/>
                        <a:t>case3</a:t>
                      </a:r>
                      <a:endParaRPr lang="zh-TW" altLang="en-US" sz="1600" dirty="0"/>
                    </a:p>
                  </a:txBody>
                  <a:tcPr marL="5443" marR="5443" marT="5443" marB="0" anchor="ctr">
                    <a:solidFill>
                      <a:srgbClr val="E9E8E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t>top2-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t>case3</a:t>
                      </a:r>
                      <a:endParaRPr lang="zh-TW" altLang="en-US" sz="1600" dirty="0"/>
                    </a:p>
                  </a:txBody>
                  <a:tcPr marL="5443" marR="5443" marT="5443" marB="0" anchor="ctr"/>
                </a:tc>
                <a:tc>
                  <a:txBody>
                    <a:bodyPr/>
                    <a:lstStyle/>
                    <a:p>
                      <a:pPr algn="ctr"/>
                      <a:r>
                        <a:rPr lang="en-US" altLang="zh-TW" sz="1600" dirty="0"/>
                        <a:t>top3-</a:t>
                      </a:r>
                    </a:p>
                    <a:p>
                      <a:pPr algn="ctr"/>
                      <a:r>
                        <a:rPr lang="en-US" altLang="zh-TW" sz="1600" dirty="0"/>
                        <a:t>case3</a:t>
                      </a:r>
                      <a:endParaRPr lang="zh-TW" altLang="en-US" sz="1600" dirty="0"/>
                    </a:p>
                  </a:txBody>
                  <a:tcPr marL="5443" marR="5443" marT="5443" marB="0" anchor="ctr"/>
                </a:tc>
                <a:tc>
                  <a:txBody>
                    <a:bodyPr/>
                    <a:lstStyle/>
                    <a:p>
                      <a:pPr algn="ctr"/>
                      <a:r>
                        <a:rPr lang="en-US" altLang="zh-TW" sz="1600" dirty="0"/>
                        <a:t>top4-</a:t>
                      </a:r>
                    </a:p>
                    <a:p>
                      <a:pPr algn="ctr"/>
                      <a:r>
                        <a:rPr lang="en-US" altLang="zh-TW" sz="1600" dirty="0"/>
                        <a:t>case3</a:t>
                      </a:r>
                      <a:endParaRPr lang="zh-TW" altLang="en-US" sz="1600" dirty="0"/>
                    </a:p>
                  </a:txBody>
                  <a:tcPr marL="5443" marR="5443" marT="5443" marB="0" anchor="ctr">
                    <a:solidFill>
                      <a:srgbClr val="E9E8ED"/>
                    </a:solidFill>
                  </a:tcPr>
                </a:tc>
                <a:extLst>
                  <a:ext uri="{0D108BD9-81ED-4DB2-BD59-A6C34878D82A}">
                    <a16:rowId xmlns:a16="http://schemas.microsoft.com/office/drawing/2014/main" val="1796029191"/>
                  </a:ext>
                </a:extLst>
              </a:tr>
              <a:tr h="546960">
                <a:tc>
                  <a:txBody>
                    <a:bodyPr/>
                    <a:lstStyle/>
                    <a:p>
                      <a:pPr algn="ctr" fontAlgn="b"/>
                      <a:r>
                        <a:rPr lang="en-US" altLang="zh-TW" sz="1600" u="none" strike="noStrike" dirty="0">
                          <a:effectLst/>
                        </a:rPr>
                        <a:t>Alpha</a:t>
                      </a:r>
                      <a:endParaRPr lang="en-US" sz="16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2000" u="none" strike="noStrike" dirty="0">
                          <a:effectLst/>
                        </a:rPr>
                        <a:t>1.00</a:t>
                      </a:r>
                      <a:endParaRPr lang="en-US" sz="2000" b="0" i="0" u="none" strike="noStrike" dirty="0">
                        <a:solidFill>
                          <a:srgbClr val="000000"/>
                        </a:solidFill>
                        <a:effectLst/>
                        <a:latin typeface="Calibri" panose="020F0502020204030204" pitchFamily="34" charset="0"/>
                      </a:endParaRPr>
                    </a:p>
                  </a:txBody>
                  <a:tcPr marL="5443" marR="5443" marT="5443" marB="0" anchor="ctr">
                    <a:solidFill>
                      <a:srgbClr val="E9E8ED"/>
                    </a:solidFill>
                  </a:tcPr>
                </a:tc>
                <a:tc>
                  <a:txBody>
                    <a:bodyPr/>
                    <a:lstStyle/>
                    <a:p>
                      <a:pPr algn="ctr" fontAlgn="b"/>
                      <a:r>
                        <a:rPr lang="en-US" sz="2000" u="none" strike="noStrike" dirty="0">
                          <a:effectLst/>
                        </a:rPr>
                        <a:t>1.00</a:t>
                      </a:r>
                      <a:endParaRPr lang="en-US" sz="2000" b="0" i="0" u="none" strike="noStrike" dirty="0">
                        <a:solidFill>
                          <a:srgbClr val="000000"/>
                        </a:solidFill>
                        <a:effectLst/>
                        <a:latin typeface="Calibri" panose="020F0502020204030204" pitchFamily="34" charset="0"/>
                      </a:endParaRPr>
                    </a:p>
                  </a:txBody>
                  <a:tcPr marL="5443" marR="5443" marT="5443" marB="0" anchor="ctr">
                    <a:solidFill>
                      <a:srgbClr val="E9E8ED"/>
                    </a:solidFill>
                  </a:tcPr>
                </a:tc>
                <a:tc>
                  <a:txBody>
                    <a:bodyPr/>
                    <a:lstStyle/>
                    <a:p>
                      <a:pPr algn="ctr" fontAlgn="b"/>
                      <a:r>
                        <a:rPr lang="en-US" sz="2000" u="none" strike="noStrike" dirty="0">
                          <a:effectLst/>
                        </a:rPr>
                        <a:t>1.00</a:t>
                      </a:r>
                      <a:endParaRPr lang="en-US" sz="20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2000" u="none" strike="noStrike" dirty="0">
                          <a:effectLst/>
                        </a:rPr>
                        <a:t>0.97</a:t>
                      </a:r>
                      <a:endParaRPr lang="en-US" sz="2000" b="0" i="0" u="none" strike="noStrike" dirty="0">
                        <a:solidFill>
                          <a:srgbClr val="000000"/>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1236537469"/>
                  </a:ext>
                </a:extLst>
              </a:tr>
              <a:tr h="493564">
                <a:tc>
                  <a:txBody>
                    <a:bodyPr/>
                    <a:lstStyle/>
                    <a:p>
                      <a:pPr algn="ctr" fontAlgn="b"/>
                      <a:r>
                        <a:rPr lang="en-US" sz="1600" u="none" strike="noStrike" dirty="0">
                          <a:effectLst/>
                        </a:rPr>
                        <a:t>Beta</a:t>
                      </a:r>
                      <a:endParaRPr lang="en-US" sz="1600" b="0" i="0" u="none" strike="noStrike" dirty="0">
                        <a:solidFill>
                          <a:srgbClr val="000000"/>
                        </a:solidFill>
                        <a:effectLst/>
                        <a:latin typeface="Calibri" panose="020F0502020204030204" pitchFamily="34" charset="0"/>
                      </a:endParaRPr>
                    </a:p>
                  </a:txBody>
                  <a:tcPr marL="5443" marR="5443" marT="5443"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dirty="0">
                          <a:effectLst/>
                        </a:rPr>
                        <a:t>0.97</a:t>
                      </a:r>
                      <a:endParaRPr lang="en-US" sz="20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2000" u="none" strike="noStrike" dirty="0">
                          <a:effectLst/>
                        </a:rPr>
                        <a:t>2.56</a:t>
                      </a:r>
                      <a:endParaRPr lang="en-US" sz="2000" b="0" i="0" u="none" strike="noStrike" dirty="0">
                        <a:solidFill>
                          <a:srgbClr val="000000"/>
                        </a:solidFill>
                        <a:effectLst/>
                        <a:latin typeface="Calibri" panose="020F0502020204030204" pitchFamily="34" charset="0"/>
                      </a:endParaRPr>
                    </a:p>
                  </a:txBody>
                  <a:tcPr marL="5443" marR="5443" marT="5443" marB="0" anchor="ctr">
                    <a:solidFill>
                      <a:schemeClr val="accent6">
                        <a:lumMod val="60000"/>
                        <a:lumOff val="40000"/>
                      </a:schemeClr>
                    </a:solidFill>
                  </a:tcPr>
                </a:tc>
                <a:tc>
                  <a:txBody>
                    <a:bodyPr/>
                    <a:lstStyle/>
                    <a:p>
                      <a:pPr algn="ctr" fontAlgn="b"/>
                      <a:r>
                        <a:rPr lang="en-US" sz="2000" u="none" strike="noStrike" dirty="0">
                          <a:effectLst/>
                        </a:rPr>
                        <a:t>0.94</a:t>
                      </a:r>
                      <a:endParaRPr lang="en-US" sz="20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2000" u="none" strike="noStrike" dirty="0">
                          <a:effectLst/>
                        </a:rPr>
                        <a:t>1.00</a:t>
                      </a:r>
                      <a:endParaRPr lang="en-US" sz="2000" b="0" i="0" u="none" strike="noStrike" dirty="0">
                        <a:solidFill>
                          <a:srgbClr val="000000"/>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3928581087"/>
                  </a:ext>
                </a:extLst>
              </a:tr>
              <a:tr h="493564">
                <a:tc>
                  <a:txBody>
                    <a:bodyPr/>
                    <a:lstStyle/>
                    <a:p>
                      <a:pPr algn="ctr" fontAlgn="b"/>
                      <a:r>
                        <a:rPr lang="en-US" altLang="zh-TW" sz="1600" u="none" strike="noStrike" dirty="0">
                          <a:effectLst/>
                        </a:rPr>
                        <a:t>Final</a:t>
                      </a:r>
                      <a:endParaRPr lang="en-US" sz="16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2000" u="none" strike="noStrike" dirty="0">
                          <a:effectLst/>
                        </a:rPr>
                        <a:t>3.01</a:t>
                      </a:r>
                      <a:endParaRPr lang="en-US" sz="2000" b="0" i="0" u="none" strike="noStrike" dirty="0">
                        <a:solidFill>
                          <a:srgbClr val="000000"/>
                        </a:solidFill>
                        <a:effectLst/>
                        <a:latin typeface="Calibri" panose="020F0502020204030204" pitchFamily="34" charset="0"/>
                      </a:endParaRPr>
                    </a:p>
                  </a:txBody>
                  <a:tcPr marL="5443" marR="5443" marT="5443" marB="0" anchor="ctr">
                    <a:solidFill>
                      <a:schemeClr val="accent6">
                        <a:lumMod val="60000"/>
                        <a:lumOff val="40000"/>
                      </a:schemeClr>
                    </a:solidFill>
                  </a:tcPr>
                </a:tc>
                <a:tc>
                  <a:txBody>
                    <a:bodyPr/>
                    <a:lstStyle/>
                    <a:p>
                      <a:pPr algn="ctr" fontAlgn="b"/>
                      <a:r>
                        <a:rPr lang="en-US" sz="2000" u="none" strike="noStrike" dirty="0">
                          <a:effectLst/>
                        </a:rPr>
                        <a:t>1.00</a:t>
                      </a:r>
                      <a:endParaRPr lang="en-US" sz="20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2000" u="none" strike="noStrike" dirty="0">
                          <a:effectLst/>
                        </a:rPr>
                        <a:t>0.88</a:t>
                      </a:r>
                      <a:endParaRPr lang="en-US" sz="2000" b="0"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2000" u="none" strike="noStrike" dirty="0">
                          <a:effectLst/>
                        </a:rPr>
                        <a:t>1.65</a:t>
                      </a:r>
                      <a:endParaRPr lang="en-US" sz="2000" b="0" i="0" u="none" strike="noStrike" dirty="0">
                        <a:solidFill>
                          <a:srgbClr val="000000"/>
                        </a:solidFill>
                        <a:effectLst/>
                        <a:latin typeface="Calibri" panose="020F0502020204030204" pitchFamily="34" charset="0"/>
                      </a:endParaRPr>
                    </a:p>
                  </a:txBody>
                  <a:tcPr marL="5443" marR="5443" marT="5443" marB="0" anchor="ctr">
                    <a:solidFill>
                      <a:schemeClr val="accent6">
                        <a:lumMod val="60000"/>
                        <a:lumOff val="40000"/>
                      </a:schemeClr>
                    </a:solidFill>
                  </a:tcPr>
                </a:tc>
                <a:extLst>
                  <a:ext uri="{0D108BD9-81ED-4DB2-BD59-A6C34878D82A}">
                    <a16:rowId xmlns:a16="http://schemas.microsoft.com/office/drawing/2014/main" val="630841261"/>
                  </a:ext>
                </a:extLst>
              </a:tr>
            </a:tbl>
          </a:graphicData>
        </a:graphic>
      </p:graphicFrame>
    </p:spTree>
    <p:extLst>
      <p:ext uri="{BB962C8B-B14F-4D97-AF65-F5344CB8AC3E}">
        <p14:creationId xmlns:p14="http://schemas.microsoft.com/office/powerpoint/2010/main" val="1381682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Award Announcement</a:t>
            </a:r>
          </a:p>
        </p:txBody>
      </p:sp>
      <p:sp>
        <p:nvSpPr>
          <p:cNvPr id="6" name="Text Placeholder 5"/>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0261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Third Place</a:t>
            </a:r>
          </a:p>
        </p:txBody>
      </p:sp>
      <p:sp>
        <p:nvSpPr>
          <p:cNvPr id="7" name="Content Placeholder 6"/>
          <p:cNvSpPr>
            <a:spLocks noGrp="1"/>
          </p:cNvSpPr>
          <p:nvPr>
            <p:ph idx="1"/>
          </p:nvPr>
        </p:nvSpPr>
        <p:spPr>
          <a:xfrm>
            <a:off x="609600" y="1414463"/>
            <a:ext cx="10972800" cy="4848225"/>
          </a:xfrm>
        </p:spPr>
        <p:txBody>
          <a:bodyPr/>
          <a:lstStyle/>
          <a:p>
            <a:pPr marL="0" indent="0" algn="ctr">
              <a:buNone/>
            </a:pPr>
            <a:r>
              <a:rPr lang="en-US" sz="2400" b="1" dirty="0"/>
              <a:t>Team cada009</a:t>
            </a:r>
            <a:r>
              <a:rPr lang="zh-TW" altLang="en-US" sz="2400" b="1" dirty="0"/>
              <a:t> </a:t>
            </a:r>
            <a:r>
              <a:rPr lang="en-US" altLang="zh-TW" sz="2400" b="1" dirty="0"/>
              <a:t>:</a:t>
            </a:r>
            <a:r>
              <a:rPr lang="zh-TW" altLang="en-US" sz="2400" b="1" dirty="0"/>
              <a:t> </a:t>
            </a:r>
            <a:r>
              <a:rPr lang="en-US" altLang="zh-TW" sz="2400" b="1" dirty="0" err="1"/>
              <a:t>SYFisGod</a:t>
            </a:r>
            <a:endParaRPr lang="en-US" sz="2400" b="1" dirty="0"/>
          </a:p>
          <a:p>
            <a:pPr marL="0" indent="0" algn="ctr">
              <a:buNone/>
            </a:pPr>
            <a:endParaRPr lang="en-US" sz="2400" b="1" dirty="0"/>
          </a:p>
          <a:p>
            <a:pPr marL="0" indent="0" algn="ctr">
              <a:buNone/>
            </a:pPr>
            <a:r>
              <a:rPr lang="en-US" sz="2400" b="1" dirty="0"/>
              <a:t>National Taiwan University of Science and Technology</a:t>
            </a:r>
          </a:p>
          <a:p>
            <a:pPr marL="0" indent="0" algn="ctr">
              <a:buNone/>
            </a:pPr>
            <a:endParaRPr lang="en-US" sz="2400" b="1" dirty="0"/>
          </a:p>
          <a:p>
            <a:pPr marL="0" indent="0" algn="ctr">
              <a:buNone/>
            </a:pPr>
            <a:r>
              <a:rPr lang="en-US" sz="2400" b="1" dirty="0"/>
              <a:t>Taiwan</a:t>
            </a:r>
          </a:p>
          <a:p>
            <a:pPr marL="0" indent="0" algn="ctr">
              <a:buNone/>
            </a:pPr>
            <a:endParaRPr lang="en-US" sz="2400" b="1" dirty="0"/>
          </a:p>
          <a:p>
            <a:pPr marL="0" indent="0" algn="ctr">
              <a:buNone/>
            </a:pPr>
            <a:r>
              <a:rPr lang="en-US" sz="2400" b="1" dirty="0"/>
              <a:t>Guan-Qi Fang</a:t>
            </a:r>
          </a:p>
          <a:p>
            <a:pPr marL="0" indent="0" algn="ctr">
              <a:buNone/>
            </a:pPr>
            <a:r>
              <a:rPr lang="en-US" sz="2400" b="1" dirty="0"/>
              <a:t>Yong Zhong</a:t>
            </a:r>
          </a:p>
          <a:p>
            <a:pPr marL="0" indent="0" algn="ctr">
              <a:buNone/>
            </a:pPr>
            <a:r>
              <a:rPr lang="en-US" sz="2400" b="1" dirty="0"/>
              <a:t>Yi-Hao Cheng</a:t>
            </a:r>
          </a:p>
          <a:p>
            <a:pPr marL="0" indent="0" algn="ctr">
              <a:buNone/>
            </a:pPr>
            <a:r>
              <a:rPr lang="en-US" sz="2400" b="1" dirty="0"/>
              <a:t>Prof. Shao-Yun Fang</a:t>
            </a:r>
          </a:p>
        </p:txBody>
      </p:sp>
      <p:sp>
        <p:nvSpPr>
          <p:cNvPr id="8" name="Text Placeholder 7"/>
          <p:cNvSpPr>
            <a:spLocks noGrp="1"/>
          </p:cNvSpPr>
          <p:nvPr>
            <p:ph type="body" sz="quarter" idx="12"/>
          </p:nvPr>
        </p:nvSpPr>
        <p:spPr/>
        <p:txBody>
          <a:bodyPr/>
          <a:lstStyle/>
          <a:p>
            <a:endParaRPr lang="en-US" dirty="0"/>
          </a:p>
        </p:txBody>
      </p:sp>
      <p:sp>
        <p:nvSpPr>
          <p:cNvPr id="9" name="Rectangle 8"/>
          <p:cNvSpPr/>
          <p:nvPr/>
        </p:nvSpPr>
        <p:spPr>
          <a:xfrm>
            <a:off x="762000" y="1211574"/>
            <a:ext cx="10678160" cy="5189226"/>
          </a:xfrm>
          <a:prstGeom prst="rect">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Plaque 9"/>
          <p:cNvSpPr/>
          <p:nvPr/>
        </p:nvSpPr>
        <p:spPr>
          <a:xfrm>
            <a:off x="609600" y="1076960"/>
            <a:ext cx="10972800" cy="5455920"/>
          </a:xfrm>
          <a:prstGeom prst="plaque">
            <a:avLst>
              <a:gd name="adj" fmla="val 11286"/>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40772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Second Place</a:t>
            </a:r>
          </a:p>
        </p:txBody>
      </p:sp>
      <p:sp>
        <p:nvSpPr>
          <p:cNvPr id="7" name="Content Placeholder 6"/>
          <p:cNvSpPr>
            <a:spLocks noGrp="1"/>
          </p:cNvSpPr>
          <p:nvPr>
            <p:ph idx="1"/>
          </p:nvPr>
        </p:nvSpPr>
        <p:spPr>
          <a:xfrm>
            <a:off x="609600" y="1414463"/>
            <a:ext cx="10972800" cy="4848225"/>
          </a:xfrm>
        </p:spPr>
        <p:txBody>
          <a:bodyPr/>
          <a:lstStyle/>
          <a:p>
            <a:pPr marL="0" indent="0" algn="ctr">
              <a:buNone/>
            </a:pPr>
            <a:r>
              <a:rPr lang="en-US" sz="2400" b="1" dirty="0"/>
              <a:t>Team cada065</a:t>
            </a:r>
            <a:r>
              <a:rPr lang="zh-TW" altLang="en-US" sz="2400" b="1" dirty="0"/>
              <a:t> </a:t>
            </a:r>
            <a:r>
              <a:rPr lang="en-US" altLang="zh-TW" sz="2400" b="1" dirty="0"/>
              <a:t>:</a:t>
            </a:r>
            <a:r>
              <a:rPr lang="zh-TW" altLang="en-US" sz="2400" b="1" dirty="0"/>
              <a:t> </a:t>
            </a:r>
            <a:r>
              <a:rPr lang="en-US" altLang="zh-TW" sz="2400" b="1" dirty="0" err="1"/>
              <a:t>DoublePai</a:t>
            </a:r>
            <a:endParaRPr lang="en-US" sz="2400" b="1" dirty="0"/>
          </a:p>
          <a:p>
            <a:pPr marL="0" indent="0" algn="ctr">
              <a:buNone/>
            </a:pPr>
            <a:endParaRPr lang="en-US" sz="2400" b="1" dirty="0"/>
          </a:p>
          <a:p>
            <a:pPr marL="0" indent="0" algn="ctr">
              <a:buNone/>
            </a:pPr>
            <a:r>
              <a:rPr lang="en-US" sz="2400" b="1" dirty="0"/>
              <a:t>National Taiwan University</a:t>
            </a:r>
          </a:p>
          <a:p>
            <a:pPr marL="0" indent="0" algn="ctr">
              <a:buNone/>
            </a:pPr>
            <a:endParaRPr lang="en-US" sz="2400" b="1" dirty="0"/>
          </a:p>
          <a:p>
            <a:pPr marL="0" indent="0" algn="ctr">
              <a:buNone/>
            </a:pPr>
            <a:r>
              <a:rPr lang="en-US" sz="2400" b="1" dirty="0"/>
              <a:t>Taiwan</a:t>
            </a:r>
          </a:p>
          <a:p>
            <a:pPr marL="0" indent="0" algn="ctr">
              <a:buNone/>
            </a:pPr>
            <a:endParaRPr lang="en-US" sz="2400" b="1" dirty="0"/>
          </a:p>
          <a:p>
            <a:pPr marL="0" indent="0" algn="ctr">
              <a:buNone/>
            </a:pPr>
            <a:r>
              <a:rPr lang="en-US" sz="2400" b="1" dirty="0"/>
              <a:t>Chia-Cheng Pai</a:t>
            </a:r>
          </a:p>
          <a:p>
            <a:pPr marL="0" indent="0" algn="ctr">
              <a:buNone/>
            </a:pPr>
            <a:r>
              <a:rPr lang="en-US" sz="2400" b="1" dirty="0"/>
              <a:t>Yu-Cheng Pai</a:t>
            </a:r>
          </a:p>
          <a:p>
            <a:pPr marL="0" indent="0" algn="ctr">
              <a:buNone/>
            </a:pPr>
            <a:r>
              <a:rPr lang="en-US" sz="2400" b="1" dirty="0"/>
              <a:t>Jing-Syuan Huang</a:t>
            </a:r>
          </a:p>
          <a:p>
            <a:pPr marL="0" indent="0" algn="ctr">
              <a:buNone/>
            </a:pPr>
            <a:r>
              <a:rPr lang="en-US" sz="2400" b="1" dirty="0"/>
              <a:t>Prof. Yao-Wen Chang, Prof. Chien-Mo James Li</a:t>
            </a:r>
          </a:p>
          <a:p>
            <a:pPr marL="0" indent="0" algn="ctr">
              <a:buNone/>
            </a:pPr>
            <a:r>
              <a:rPr lang="en-US" sz="2400" b="1" dirty="0"/>
              <a:t>Prof. Jie-Hong Roland Jiang, Prof. Chung-Ping Charlie Chen</a:t>
            </a:r>
          </a:p>
        </p:txBody>
      </p:sp>
      <p:sp>
        <p:nvSpPr>
          <p:cNvPr id="8" name="Text Placeholder 7"/>
          <p:cNvSpPr>
            <a:spLocks noGrp="1"/>
          </p:cNvSpPr>
          <p:nvPr>
            <p:ph type="body" sz="quarter" idx="12"/>
          </p:nvPr>
        </p:nvSpPr>
        <p:spPr/>
        <p:txBody>
          <a:bodyPr/>
          <a:lstStyle/>
          <a:p>
            <a:endParaRPr lang="en-US" dirty="0"/>
          </a:p>
        </p:txBody>
      </p:sp>
      <p:sp>
        <p:nvSpPr>
          <p:cNvPr id="12" name="Rectangle 11"/>
          <p:cNvSpPr/>
          <p:nvPr/>
        </p:nvSpPr>
        <p:spPr>
          <a:xfrm>
            <a:off x="762000" y="1211574"/>
            <a:ext cx="10678160" cy="5189226"/>
          </a:xfrm>
          <a:prstGeom prst="rect">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Plaque 12"/>
          <p:cNvSpPr/>
          <p:nvPr/>
        </p:nvSpPr>
        <p:spPr>
          <a:xfrm>
            <a:off x="609600" y="1076960"/>
            <a:ext cx="10972800" cy="5455920"/>
          </a:xfrm>
          <a:prstGeom prst="plaque">
            <a:avLst>
              <a:gd name="adj" fmla="val 11286"/>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019954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First Place</a:t>
            </a:r>
          </a:p>
        </p:txBody>
      </p:sp>
      <p:sp>
        <p:nvSpPr>
          <p:cNvPr id="7" name="Content Placeholder 6"/>
          <p:cNvSpPr>
            <a:spLocks noGrp="1"/>
          </p:cNvSpPr>
          <p:nvPr>
            <p:ph idx="1"/>
          </p:nvPr>
        </p:nvSpPr>
        <p:spPr>
          <a:xfrm>
            <a:off x="609600" y="1414463"/>
            <a:ext cx="10972800" cy="4848225"/>
          </a:xfrm>
        </p:spPr>
        <p:txBody>
          <a:bodyPr/>
          <a:lstStyle/>
          <a:p>
            <a:pPr marL="0" indent="0" algn="ctr">
              <a:buNone/>
            </a:pPr>
            <a:r>
              <a:rPr lang="en-US" sz="2400" b="1" dirty="0"/>
              <a:t>Team cada066</a:t>
            </a:r>
            <a:r>
              <a:rPr lang="zh-TW" altLang="en-US" sz="2400" b="1" dirty="0"/>
              <a:t> </a:t>
            </a:r>
            <a:r>
              <a:rPr lang="en-US" altLang="zh-TW" sz="2400" b="1" dirty="0"/>
              <a:t>: CCU EDA Route</a:t>
            </a:r>
            <a:endParaRPr lang="en-US" sz="2400" b="1" dirty="0"/>
          </a:p>
          <a:p>
            <a:pPr marL="0" indent="0" algn="ctr">
              <a:buNone/>
            </a:pPr>
            <a:endParaRPr lang="en-US" sz="2400" b="1" dirty="0"/>
          </a:p>
          <a:p>
            <a:pPr marL="0" indent="0" algn="ctr">
              <a:buNone/>
            </a:pPr>
            <a:r>
              <a:rPr lang="en-US" sz="2400" b="1" dirty="0"/>
              <a:t>National Chung Cheng University</a:t>
            </a:r>
          </a:p>
          <a:p>
            <a:pPr marL="0" indent="0" algn="ctr">
              <a:buNone/>
            </a:pPr>
            <a:endParaRPr lang="en-US" sz="2400" b="1" dirty="0"/>
          </a:p>
          <a:p>
            <a:pPr marL="0" indent="0" algn="ctr">
              <a:buNone/>
            </a:pPr>
            <a:r>
              <a:rPr lang="en-US" sz="2400" b="1" dirty="0"/>
              <a:t>Taiwan</a:t>
            </a:r>
          </a:p>
          <a:p>
            <a:pPr marL="0" indent="0" algn="ctr">
              <a:buNone/>
            </a:pPr>
            <a:endParaRPr lang="en-US" sz="2400" b="1" dirty="0"/>
          </a:p>
          <a:p>
            <a:pPr marL="0" indent="0" algn="ctr">
              <a:buNone/>
            </a:pPr>
            <a:r>
              <a:rPr lang="en-US" sz="2400" b="1" dirty="0"/>
              <a:t>Shuo-Hui Wang</a:t>
            </a:r>
          </a:p>
          <a:p>
            <a:pPr marL="0" indent="0" algn="ctr">
              <a:buNone/>
            </a:pPr>
            <a:r>
              <a:rPr lang="en-US" sz="2400" b="1" dirty="0"/>
              <a:t>Yan-Yu Su</a:t>
            </a:r>
          </a:p>
          <a:p>
            <a:pPr marL="0" indent="0" algn="ctr">
              <a:buNone/>
            </a:pPr>
            <a:r>
              <a:rPr lang="en-US" sz="2400" b="1" dirty="0"/>
              <a:t>Wei-Liang Wu</a:t>
            </a:r>
          </a:p>
          <a:p>
            <a:pPr marL="0" indent="0" algn="ctr">
              <a:buNone/>
            </a:pPr>
            <a:r>
              <a:rPr lang="en-US" sz="2400" b="1" dirty="0"/>
              <a:t>Guan-Hong Liou</a:t>
            </a:r>
          </a:p>
          <a:p>
            <a:pPr marL="0" indent="0" algn="ctr">
              <a:buNone/>
            </a:pPr>
            <a:r>
              <a:rPr lang="en-US" sz="2400" b="1" dirty="0"/>
              <a:t>Prof. Mark Po-Hung Lin</a:t>
            </a:r>
          </a:p>
        </p:txBody>
      </p:sp>
      <p:sp>
        <p:nvSpPr>
          <p:cNvPr id="8" name="Text Placeholder 7"/>
          <p:cNvSpPr>
            <a:spLocks noGrp="1"/>
          </p:cNvSpPr>
          <p:nvPr>
            <p:ph type="body" sz="quarter" idx="12"/>
          </p:nvPr>
        </p:nvSpPr>
        <p:spPr/>
        <p:txBody>
          <a:bodyPr/>
          <a:lstStyle/>
          <a:p>
            <a:endParaRPr lang="en-US" dirty="0"/>
          </a:p>
        </p:txBody>
      </p:sp>
      <p:sp>
        <p:nvSpPr>
          <p:cNvPr id="10" name="Rectangle 9"/>
          <p:cNvSpPr/>
          <p:nvPr/>
        </p:nvSpPr>
        <p:spPr>
          <a:xfrm>
            <a:off x="762000" y="1211574"/>
            <a:ext cx="10678160" cy="5189226"/>
          </a:xfrm>
          <a:prstGeom prst="rect">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Plaque 10"/>
          <p:cNvSpPr/>
          <p:nvPr/>
        </p:nvSpPr>
        <p:spPr>
          <a:xfrm>
            <a:off x="609600" y="1076960"/>
            <a:ext cx="10972800" cy="5455920"/>
          </a:xfrm>
          <a:prstGeom prst="plaque">
            <a:avLst>
              <a:gd name="adj" fmla="val 11286"/>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28412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040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Top3 Result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340364560"/>
              </p:ext>
            </p:extLst>
          </p:nvPr>
        </p:nvGraphicFramePr>
        <p:xfrm>
          <a:off x="609600" y="1902058"/>
          <a:ext cx="10972795" cy="1879108"/>
        </p:xfrm>
        <a:graphic>
          <a:graphicData uri="http://schemas.openxmlformats.org/drawingml/2006/table">
            <a:tbl>
              <a:tblPr>
                <a:tableStyleId>{5C22544A-7EE6-4342-B048-85BDC9FD1C3A}</a:tableStyleId>
              </a:tblPr>
              <a:tblGrid>
                <a:gridCol w="936278">
                  <a:extLst>
                    <a:ext uri="{9D8B030D-6E8A-4147-A177-3AD203B41FA5}">
                      <a16:colId xmlns:a16="http://schemas.microsoft.com/office/drawing/2014/main" val="1515595935"/>
                    </a:ext>
                  </a:extLst>
                </a:gridCol>
                <a:gridCol w="607315">
                  <a:extLst>
                    <a:ext uri="{9D8B030D-6E8A-4147-A177-3AD203B41FA5}">
                      <a16:colId xmlns:a16="http://schemas.microsoft.com/office/drawing/2014/main" val="945619306"/>
                    </a:ext>
                  </a:extLst>
                </a:gridCol>
                <a:gridCol w="645273">
                  <a:extLst>
                    <a:ext uri="{9D8B030D-6E8A-4147-A177-3AD203B41FA5}">
                      <a16:colId xmlns:a16="http://schemas.microsoft.com/office/drawing/2014/main" val="4131607046"/>
                    </a:ext>
                  </a:extLst>
                </a:gridCol>
                <a:gridCol w="607315">
                  <a:extLst>
                    <a:ext uri="{9D8B030D-6E8A-4147-A177-3AD203B41FA5}">
                      <a16:colId xmlns:a16="http://schemas.microsoft.com/office/drawing/2014/main" val="710068200"/>
                    </a:ext>
                  </a:extLst>
                </a:gridCol>
                <a:gridCol w="607315">
                  <a:extLst>
                    <a:ext uri="{9D8B030D-6E8A-4147-A177-3AD203B41FA5}">
                      <a16:colId xmlns:a16="http://schemas.microsoft.com/office/drawing/2014/main" val="2714193221"/>
                    </a:ext>
                  </a:extLst>
                </a:gridCol>
                <a:gridCol w="607315">
                  <a:extLst>
                    <a:ext uri="{9D8B030D-6E8A-4147-A177-3AD203B41FA5}">
                      <a16:colId xmlns:a16="http://schemas.microsoft.com/office/drawing/2014/main" val="1772929904"/>
                    </a:ext>
                  </a:extLst>
                </a:gridCol>
                <a:gridCol w="670578">
                  <a:extLst>
                    <a:ext uri="{9D8B030D-6E8A-4147-A177-3AD203B41FA5}">
                      <a16:colId xmlns:a16="http://schemas.microsoft.com/office/drawing/2014/main" val="295895737"/>
                    </a:ext>
                  </a:extLst>
                </a:gridCol>
                <a:gridCol w="607315">
                  <a:extLst>
                    <a:ext uri="{9D8B030D-6E8A-4147-A177-3AD203B41FA5}">
                      <a16:colId xmlns:a16="http://schemas.microsoft.com/office/drawing/2014/main" val="3583952269"/>
                    </a:ext>
                  </a:extLst>
                </a:gridCol>
                <a:gridCol w="607315">
                  <a:extLst>
                    <a:ext uri="{9D8B030D-6E8A-4147-A177-3AD203B41FA5}">
                      <a16:colId xmlns:a16="http://schemas.microsoft.com/office/drawing/2014/main" val="4039425020"/>
                    </a:ext>
                  </a:extLst>
                </a:gridCol>
                <a:gridCol w="607315">
                  <a:extLst>
                    <a:ext uri="{9D8B030D-6E8A-4147-A177-3AD203B41FA5}">
                      <a16:colId xmlns:a16="http://schemas.microsoft.com/office/drawing/2014/main" val="3078540398"/>
                    </a:ext>
                  </a:extLst>
                </a:gridCol>
                <a:gridCol w="683230">
                  <a:extLst>
                    <a:ext uri="{9D8B030D-6E8A-4147-A177-3AD203B41FA5}">
                      <a16:colId xmlns:a16="http://schemas.microsoft.com/office/drawing/2014/main" val="497111900"/>
                    </a:ext>
                  </a:extLst>
                </a:gridCol>
                <a:gridCol w="607315">
                  <a:extLst>
                    <a:ext uri="{9D8B030D-6E8A-4147-A177-3AD203B41FA5}">
                      <a16:colId xmlns:a16="http://schemas.microsoft.com/office/drawing/2014/main" val="397018604"/>
                    </a:ext>
                  </a:extLst>
                </a:gridCol>
                <a:gridCol w="607315">
                  <a:extLst>
                    <a:ext uri="{9D8B030D-6E8A-4147-A177-3AD203B41FA5}">
                      <a16:colId xmlns:a16="http://schemas.microsoft.com/office/drawing/2014/main" val="3093910760"/>
                    </a:ext>
                  </a:extLst>
                </a:gridCol>
                <a:gridCol w="607315">
                  <a:extLst>
                    <a:ext uri="{9D8B030D-6E8A-4147-A177-3AD203B41FA5}">
                      <a16:colId xmlns:a16="http://schemas.microsoft.com/office/drawing/2014/main" val="1846736150"/>
                    </a:ext>
                  </a:extLst>
                </a:gridCol>
                <a:gridCol w="673741">
                  <a:extLst>
                    <a:ext uri="{9D8B030D-6E8A-4147-A177-3AD203B41FA5}">
                      <a16:colId xmlns:a16="http://schemas.microsoft.com/office/drawing/2014/main" val="3277650526"/>
                    </a:ext>
                  </a:extLst>
                </a:gridCol>
                <a:gridCol w="607315">
                  <a:extLst>
                    <a:ext uri="{9D8B030D-6E8A-4147-A177-3AD203B41FA5}">
                      <a16:colId xmlns:a16="http://schemas.microsoft.com/office/drawing/2014/main" val="1681432758"/>
                    </a:ext>
                  </a:extLst>
                </a:gridCol>
                <a:gridCol w="683230">
                  <a:extLst>
                    <a:ext uri="{9D8B030D-6E8A-4147-A177-3AD203B41FA5}">
                      <a16:colId xmlns:a16="http://schemas.microsoft.com/office/drawing/2014/main" val="55797362"/>
                    </a:ext>
                  </a:extLst>
                </a:gridCol>
              </a:tblGrid>
              <a:tr h="189841">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492" marR="9492" marT="9492" marB="0" anchor="b"/>
                </a:tc>
                <a:tc gridSpan="4">
                  <a:txBody>
                    <a:bodyPr/>
                    <a:lstStyle/>
                    <a:p>
                      <a:pPr algn="ctr" fontAlgn="b"/>
                      <a:r>
                        <a:rPr lang="en-US" sz="1100" u="none" strike="noStrike">
                          <a:effectLst/>
                        </a:rPr>
                        <a:t>case1</a:t>
                      </a:r>
                      <a:endParaRPr lang="en-US" sz="1100" b="0" i="0" u="none" strike="noStrike">
                        <a:solidFill>
                          <a:srgbClr val="000000"/>
                        </a:solidFill>
                        <a:effectLst/>
                        <a:latin typeface="Calibri" panose="020F0502020204030204" pitchFamily="34" charset="0"/>
                      </a:endParaRPr>
                    </a:p>
                  </a:txBody>
                  <a:tcPr marL="9492" marR="9492" marT="9492"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u="none" strike="noStrike">
                          <a:effectLst/>
                        </a:rPr>
                        <a:t>case2</a:t>
                      </a:r>
                      <a:endParaRPr lang="en-US" sz="1100" b="0" i="0" u="none" strike="noStrike">
                        <a:solidFill>
                          <a:srgbClr val="000000"/>
                        </a:solidFill>
                        <a:effectLst/>
                        <a:latin typeface="Calibri" panose="020F0502020204030204" pitchFamily="34" charset="0"/>
                      </a:endParaRPr>
                    </a:p>
                  </a:txBody>
                  <a:tcPr marL="9492" marR="9492" marT="9492"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u="none" strike="noStrike">
                          <a:effectLst/>
                        </a:rPr>
                        <a:t>case3</a:t>
                      </a:r>
                      <a:endParaRPr lang="en-US" sz="1100" b="0" i="0" u="none" strike="noStrike">
                        <a:solidFill>
                          <a:srgbClr val="000000"/>
                        </a:solidFill>
                        <a:effectLst/>
                        <a:latin typeface="Calibri" panose="020F0502020204030204" pitchFamily="34" charset="0"/>
                      </a:endParaRPr>
                    </a:p>
                  </a:txBody>
                  <a:tcPr marL="9492" marR="9492" marT="9492"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u="none" strike="noStrike">
                          <a:effectLst/>
                        </a:rPr>
                        <a:t>caseA</a:t>
                      </a:r>
                      <a:endParaRPr lang="en-US" sz="1100" b="0" i="0" u="none" strike="noStrike">
                        <a:solidFill>
                          <a:srgbClr val="000000"/>
                        </a:solidFill>
                        <a:effectLst/>
                        <a:latin typeface="Calibri" panose="020F0502020204030204" pitchFamily="34" charset="0"/>
                      </a:endParaRPr>
                    </a:p>
                  </a:txBody>
                  <a:tcPr marL="9492" marR="9492" marT="9492"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2949472"/>
                  </a:ext>
                </a:extLst>
              </a:tr>
              <a:tr h="654951">
                <a:tc>
                  <a:txBody>
                    <a:bodyPr/>
                    <a:lstStyle/>
                    <a:p>
                      <a:pPr algn="l" fontAlgn="b"/>
                      <a:r>
                        <a:rPr lang="en-US" sz="1100" u="none" strike="noStrike">
                          <a:effectLst/>
                        </a:rPr>
                        <a:t>Team</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Cost with runtime bonus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Cost with runtime bonus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Cost with</a:t>
                      </a:r>
                      <a:br>
                        <a:rPr lang="en-US" sz="1100" u="none" strike="noStrike">
                          <a:effectLst/>
                        </a:rPr>
                      </a:br>
                      <a:r>
                        <a:rPr lang="en-US" sz="1100" u="none" strike="noStrike">
                          <a:effectLst/>
                        </a:rPr>
                        <a:t>runtime bonus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Cost with runtime bonus</a:t>
                      </a:r>
                      <a:endParaRPr lang="en-US" sz="1100" b="0" i="0" u="none" strike="noStrike">
                        <a:solidFill>
                          <a:srgbClr val="000000"/>
                        </a:solidFill>
                        <a:effectLst/>
                        <a:latin typeface="Calibri" panose="020F0502020204030204" pitchFamily="34" charset="0"/>
                      </a:endParaRPr>
                    </a:p>
                  </a:txBody>
                  <a:tcPr marL="9492" marR="9492" marT="9492" marB="0" anchor="b"/>
                </a:tc>
                <a:extLst>
                  <a:ext uri="{0D108BD9-81ED-4DB2-BD59-A6C34878D82A}">
                    <a16:rowId xmlns:a16="http://schemas.microsoft.com/office/drawing/2014/main" val="497933604"/>
                  </a:ext>
                </a:extLst>
              </a:tr>
              <a:tr h="189841">
                <a:tc>
                  <a:txBody>
                    <a:bodyPr/>
                    <a:lstStyle/>
                    <a:p>
                      <a:pPr algn="l" fontAlgn="b"/>
                      <a:r>
                        <a:rPr lang="en-US" sz="1100" u="none" strike="noStrike">
                          <a:effectLst/>
                        </a:rPr>
                        <a:t>Top1-cada066</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3627</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0m0.037s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3264.3</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65409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0m0.597s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58868.1</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737928</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0m33.464s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664135.2</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1262466</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0m38.305s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1136219.4</a:t>
                      </a:r>
                      <a:endParaRPr lang="en-US" sz="1100" b="0" i="0" u="none" strike="noStrike">
                        <a:solidFill>
                          <a:srgbClr val="000000"/>
                        </a:solidFill>
                        <a:effectLst/>
                        <a:latin typeface="Calibri" panose="020F0502020204030204" pitchFamily="34" charset="0"/>
                      </a:endParaRPr>
                    </a:p>
                  </a:txBody>
                  <a:tcPr marL="9492" marR="9492" marT="9492" marB="0" anchor="b"/>
                </a:tc>
                <a:extLst>
                  <a:ext uri="{0D108BD9-81ED-4DB2-BD59-A6C34878D82A}">
                    <a16:rowId xmlns:a16="http://schemas.microsoft.com/office/drawing/2014/main" val="2977747534"/>
                  </a:ext>
                </a:extLst>
              </a:tr>
              <a:tr h="189841">
                <a:tc>
                  <a:txBody>
                    <a:bodyPr/>
                    <a:lstStyle/>
                    <a:p>
                      <a:pPr algn="l" fontAlgn="b"/>
                      <a:r>
                        <a:rPr lang="en-US" sz="1100" u="none" strike="noStrike">
                          <a:effectLst/>
                        </a:rPr>
                        <a:t>Top2-cada065</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3598</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0m0.051s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3238.2</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66184</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0m0.924s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59565.6</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769758</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0m25.407s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692782.2</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1281961</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0m23.788s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1153764.9</a:t>
                      </a:r>
                      <a:endParaRPr lang="en-US" sz="1100" b="0" i="0" u="none" strike="noStrike">
                        <a:solidFill>
                          <a:srgbClr val="000000"/>
                        </a:solidFill>
                        <a:effectLst/>
                        <a:latin typeface="Calibri" panose="020F0502020204030204" pitchFamily="34" charset="0"/>
                      </a:endParaRPr>
                    </a:p>
                  </a:txBody>
                  <a:tcPr marL="9492" marR="9492" marT="9492" marB="0" anchor="b"/>
                </a:tc>
                <a:extLst>
                  <a:ext uri="{0D108BD9-81ED-4DB2-BD59-A6C34878D82A}">
                    <a16:rowId xmlns:a16="http://schemas.microsoft.com/office/drawing/2014/main" val="1830230791"/>
                  </a:ext>
                </a:extLst>
              </a:tr>
              <a:tr h="189841">
                <a:tc>
                  <a:txBody>
                    <a:bodyPr/>
                    <a:lstStyle/>
                    <a:p>
                      <a:pPr algn="l" fontAlgn="b"/>
                      <a:r>
                        <a:rPr lang="en-US" sz="1100" u="none" strike="noStrike">
                          <a:effectLst/>
                        </a:rPr>
                        <a:t>Top3-cada009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3598</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0m0.075s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3238.2</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64725</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0m2.544s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64725.0</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733630</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1m54.595s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0.95</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696948.5</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1261068</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l" fontAlgn="b"/>
                      <a:r>
                        <a:rPr lang="en-US" sz="1100" u="none" strike="noStrike">
                          <a:effectLst/>
                        </a:rPr>
                        <a:t>0m51.271s</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a:effectLst/>
                        </a:rPr>
                        <a:t>0.95</a:t>
                      </a:r>
                      <a:endParaRPr lang="en-US" sz="1100" b="0" i="0" u="none" strike="noStrike">
                        <a:solidFill>
                          <a:srgbClr val="000000"/>
                        </a:solidFill>
                        <a:effectLst/>
                        <a:latin typeface="Calibri" panose="020F0502020204030204" pitchFamily="34" charset="0"/>
                      </a:endParaRPr>
                    </a:p>
                  </a:txBody>
                  <a:tcPr marL="9492" marR="9492" marT="9492" marB="0" anchor="b"/>
                </a:tc>
                <a:tc>
                  <a:txBody>
                    <a:bodyPr/>
                    <a:lstStyle/>
                    <a:p>
                      <a:pPr algn="r" fontAlgn="b"/>
                      <a:r>
                        <a:rPr lang="en-US" sz="1100" u="none" strike="noStrike" dirty="0">
                          <a:effectLst/>
                        </a:rPr>
                        <a:t>1198014.6</a:t>
                      </a:r>
                      <a:endParaRPr lang="en-US" sz="1100" b="0" i="0" u="none" strike="noStrike" dirty="0">
                        <a:solidFill>
                          <a:srgbClr val="000000"/>
                        </a:solidFill>
                        <a:effectLst/>
                        <a:latin typeface="Calibri" panose="020F0502020204030204" pitchFamily="34" charset="0"/>
                      </a:endParaRPr>
                    </a:p>
                  </a:txBody>
                  <a:tcPr marL="9492" marR="9492" marT="9492" marB="0" anchor="b"/>
                </a:tc>
                <a:extLst>
                  <a:ext uri="{0D108BD9-81ED-4DB2-BD59-A6C34878D82A}">
                    <a16:rowId xmlns:a16="http://schemas.microsoft.com/office/drawing/2014/main" val="459270170"/>
                  </a:ext>
                </a:extLst>
              </a:tr>
            </a:tbl>
          </a:graphicData>
        </a:graphic>
      </p:graphicFrame>
      <p:sp>
        <p:nvSpPr>
          <p:cNvPr id="4" name="Text Placeholder 3"/>
          <p:cNvSpPr>
            <a:spLocks noGrp="1"/>
          </p:cNvSpPr>
          <p:nvPr>
            <p:ph type="body" sz="quarter" idx="12"/>
          </p:nvPr>
        </p:nvSpPr>
        <p:spPr/>
        <p:txBody>
          <a:bodyPr/>
          <a:lstStyle/>
          <a:p>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709749376"/>
              </p:ext>
            </p:extLst>
          </p:nvPr>
        </p:nvGraphicFramePr>
        <p:xfrm>
          <a:off x="609591" y="4135120"/>
          <a:ext cx="10972804" cy="1981270"/>
        </p:xfrm>
        <a:graphic>
          <a:graphicData uri="http://schemas.openxmlformats.org/drawingml/2006/table">
            <a:tbl>
              <a:tblPr>
                <a:tableStyleId>{5C22544A-7EE6-4342-B048-85BDC9FD1C3A}</a:tableStyleId>
              </a:tblPr>
              <a:tblGrid>
                <a:gridCol w="933856">
                  <a:extLst>
                    <a:ext uri="{9D8B030D-6E8A-4147-A177-3AD203B41FA5}">
                      <a16:colId xmlns:a16="http://schemas.microsoft.com/office/drawing/2014/main" val="3948712598"/>
                    </a:ext>
                  </a:extLst>
                </a:gridCol>
                <a:gridCol w="605744">
                  <a:extLst>
                    <a:ext uri="{9D8B030D-6E8A-4147-A177-3AD203B41FA5}">
                      <a16:colId xmlns:a16="http://schemas.microsoft.com/office/drawing/2014/main" val="1454717396"/>
                    </a:ext>
                  </a:extLst>
                </a:gridCol>
                <a:gridCol w="643604">
                  <a:extLst>
                    <a:ext uri="{9D8B030D-6E8A-4147-A177-3AD203B41FA5}">
                      <a16:colId xmlns:a16="http://schemas.microsoft.com/office/drawing/2014/main" val="1612024240"/>
                    </a:ext>
                  </a:extLst>
                </a:gridCol>
                <a:gridCol w="605744">
                  <a:extLst>
                    <a:ext uri="{9D8B030D-6E8A-4147-A177-3AD203B41FA5}">
                      <a16:colId xmlns:a16="http://schemas.microsoft.com/office/drawing/2014/main" val="482314015"/>
                    </a:ext>
                  </a:extLst>
                </a:gridCol>
                <a:gridCol w="605744">
                  <a:extLst>
                    <a:ext uri="{9D8B030D-6E8A-4147-A177-3AD203B41FA5}">
                      <a16:colId xmlns:a16="http://schemas.microsoft.com/office/drawing/2014/main" val="1552868728"/>
                    </a:ext>
                  </a:extLst>
                </a:gridCol>
                <a:gridCol w="605744">
                  <a:extLst>
                    <a:ext uri="{9D8B030D-6E8A-4147-A177-3AD203B41FA5}">
                      <a16:colId xmlns:a16="http://schemas.microsoft.com/office/drawing/2014/main" val="3989062313"/>
                    </a:ext>
                  </a:extLst>
                </a:gridCol>
                <a:gridCol w="668843">
                  <a:extLst>
                    <a:ext uri="{9D8B030D-6E8A-4147-A177-3AD203B41FA5}">
                      <a16:colId xmlns:a16="http://schemas.microsoft.com/office/drawing/2014/main" val="2635676663"/>
                    </a:ext>
                  </a:extLst>
                </a:gridCol>
                <a:gridCol w="605744">
                  <a:extLst>
                    <a:ext uri="{9D8B030D-6E8A-4147-A177-3AD203B41FA5}">
                      <a16:colId xmlns:a16="http://schemas.microsoft.com/office/drawing/2014/main" val="177157028"/>
                    </a:ext>
                  </a:extLst>
                </a:gridCol>
                <a:gridCol w="605744">
                  <a:extLst>
                    <a:ext uri="{9D8B030D-6E8A-4147-A177-3AD203B41FA5}">
                      <a16:colId xmlns:a16="http://schemas.microsoft.com/office/drawing/2014/main" val="4267417664"/>
                    </a:ext>
                  </a:extLst>
                </a:gridCol>
                <a:gridCol w="605744">
                  <a:extLst>
                    <a:ext uri="{9D8B030D-6E8A-4147-A177-3AD203B41FA5}">
                      <a16:colId xmlns:a16="http://schemas.microsoft.com/office/drawing/2014/main" val="3303952145"/>
                    </a:ext>
                  </a:extLst>
                </a:gridCol>
                <a:gridCol w="681463">
                  <a:extLst>
                    <a:ext uri="{9D8B030D-6E8A-4147-A177-3AD203B41FA5}">
                      <a16:colId xmlns:a16="http://schemas.microsoft.com/office/drawing/2014/main" val="1221777020"/>
                    </a:ext>
                  </a:extLst>
                </a:gridCol>
                <a:gridCol w="605744">
                  <a:extLst>
                    <a:ext uri="{9D8B030D-6E8A-4147-A177-3AD203B41FA5}">
                      <a16:colId xmlns:a16="http://schemas.microsoft.com/office/drawing/2014/main" val="3836052801"/>
                    </a:ext>
                  </a:extLst>
                </a:gridCol>
                <a:gridCol w="634138">
                  <a:extLst>
                    <a:ext uri="{9D8B030D-6E8A-4147-A177-3AD203B41FA5}">
                      <a16:colId xmlns:a16="http://schemas.microsoft.com/office/drawing/2014/main" val="657909122"/>
                    </a:ext>
                  </a:extLst>
                </a:gridCol>
                <a:gridCol w="605744">
                  <a:extLst>
                    <a:ext uri="{9D8B030D-6E8A-4147-A177-3AD203B41FA5}">
                      <a16:colId xmlns:a16="http://schemas.microsoft.com/office/drawing/2014/main" val="1560317453"/>
                    </a:ext>
                  </a:extLst>
                </a:gridCol>
                <a:gridCol w="671997">
                  <a:extLst>
                    <a:ext uri="{9D8B030D-6E8A-4147-A177-3AD203B41FA5}">
                      <a16:colId xmlns:a16="http://schemas.microsoft.com/office/drawing/2014/main" val="4216285016"/>
                    </a:ext>
                  </a:extLst>
                </a:gridCol>
                <a:gridCol w="605744">
                  <a:extLst>
                    <a:ext uri="{9D8B030D-6E8A-4147-A177-3AD203B41FA5}">
                      <a16:colId xmlns:a16="http://schemas.microsoft.com/office/drawing/2014/main" val="1404444232"/>
                    </a:ext>
                  </a:extLst>
                </a:gridCol>
                <a:gridCol w="681463">
                  <a:extLst>
                    <a:ext uri="{9D8B030D-6E8A-4147-A177-3AD203B41FA5}">
                      <a16:colId xmlns:a16="http://schemas.microsoft.com/office/drawing/2014/main" val="1159321889"/>
                    </a:ext>
                  </a:extLst>
                </a:gridCol>
              </a:tblGrid>
              <a:tr h="189404">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470" marR="9470" marT="9470" marB="0" anchor="b"/>
                </a:tc>
                <a:tc gridSpan="4">
                  <a:txBody>
                    <a:bodyPr/>
                    <a:lstStyle/>
                    <a:p>
                      <a:pPr algn="ctr" fontAlgn="b"/>
                      <a:r>
                        <a:rPr lang="en-US" sz="1100" u="none" strike="noStrike">
                          <a:effectLst/>
                        </a:rPr>
                        <a:t>case4</a:t>
                      </a:r>
                      <a:endParaRPr lang="en-US" sz="1100" b="0" i="0" u="none" strike="noStrike">
                        <a:solidFill>
                          <a:srgbClr val="000000"/>
                        </a:solidFill>
                        <a:effectLst/>
                        <a:latin typeface="Calibri" panose="020F0502020204030204" pitchFamily="34" charset="0"/>
                      </a:endParaRPr>
                    </a:p>
                  </a:txBody>
                  <a:tcPr marL="9470" marR="9470" marT="9470"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u="none" strike="noStrike">
                          <a:effectLst/>
                        </a:rPr>
                        <a:t>case5</a:t>
                      </a:r>
                      <a:endParaRPr lang="en-US" sz="1100" b="0" i="0" u="none" strike="noStrike">
                        <a:solidFill>
                          <a:srgbClr val="000000"/>
                        </a:solidFill>
                        <a:effectLst/>
                        <a:latin typeface="Calibri" panose="020F0502020204030204" pitchFamily="34" charset="0"/>
                      </a:endParaRPr>
                    </a:p>
                  </a:txBody>
                  <a:tcPr marL="9470" marR="9470" marT="9470"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u="none" strike="noStrike">
                          <a:effectLst/>
                        </a:rPr>
                        <a:t>case6</a:t>
                      </a:r>
                      <a:endParaRPr lang="en-US" sz="1100" b="0" i="0" u="none" strike="noStrike">
                        <a:solidFill>
                          <a:srgbClr val="000000"/>
                        </a:solidFill>
                        <a:effectLst/>
                        <a:latin typeface="Calibri" panose="020F0502020204030204" pitchFamily="34" charset="0"/>
                      </a:endParaRPr>
                    </a:p>
                  </a:txBody>
                  <a:tcPr marL="9470" marR="9470" marT="9470"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u="none" strike="noStrike">
                          <a:effectLst/>
                        </a:rPr>
                        <a:t>caseB</a:t>
                      </a:r>
                      <a:endParaRPr lang="en-US" sz="1100" b="0" i="0" u="none" strike="noStrike">
                        <a:solidFill>
                          <a:srgbClr val="000000"/>
                        </a:solidFill>
                        <a:effectLst/>
                        <a:latin typeface="Calibri" panose="020F0502020204030204" pitchFamily="34" charset="0"/>
                      </a:endParaRPr>
                    </a:p>
                  </a:txBody>
                  <a:tcPr marL="9470" marR="9470" marT="947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08299498"/>
                  </a:ext>
                </a:extLst>
              </a:tr>
              <a:tr h="757616">
                <a:tc>
                  <a:txBody>
                    <a:bodyPr/>
                    <a:lstStyle/>
                    <a:p>
                      <a:pPr algn="l" fontAlgn="b"/>
                      <a:r>
                        <a:rPr lang="en-US" sz="1100" u="none" strike="noStrike">
                          <a:effectLst/>
                        </a:rPr>
                        <a:t>Team</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Cost with runtime bonus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Cost with runtime bonus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Cost with runtime bonus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Overall Cost</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(Elapsed real time)</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Runtime bonus factor</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Cost with runtime bonus</a:t>
                      </a:r>
                      <a:endParaRPr lang="en-US" sz="1100" b="0" i="0" u="none" strike="noStrike">
                        <a:solidFill>
                          <a:srgbClr val="000000"/>
                        </a:solidFill>
                        <a:effectLst/>
                        <a:latin typeface="Calibri" panose="020F0502020204030204" pitchFamily="34" charset="0"/>
                      </a:endParaRPr>
                    </a:p>
                  </a:txBody>
                  <a:tcPr marL="9470" marR="9470" marT="9470" marB="0" anchor="b"/>
                </a:tc>
                <a:extLst>
                  <a:ext uri="{0D108BD9-81ED-4DB2-BD59-A6C34878D82A}">
                    <a16:rowId xmlns:a16="http://schemas.microsoft.com/office/drawing/2014/main" val="3941277972"/>
                  </a:ext>
                </a:extLst>
              </a:tr>
              <a:tr h="189404">
                <a:tc>
                  <a:txBody>
                    <a:bodyPr/>
                    <a:lstStyle/>
                    <a:p>
                      <a:pPr algn="l" fontAlgn="b"/>
                      <a:r>
                        <a:rPr lang="en-US" sz="1100" u="none" strike="noStrike">
                          <a:effectLst/>
                        </a:rPr>
                        <a:t>Top1-cada066</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9998</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0m0.050s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8998.2</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21171</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0m0.602s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19053.9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1542681</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0m54.164s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0.95</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1465547.0</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5326864</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0m54.166s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4794177.6</a:t>
                      </a:r>
                      <a:endParaRPr lang="en-US" sz="1100" b="0" i="0" u="none" strike="noStrike">
                        <a:solidFill>
                          <a:srgbClr val="000000"/>
                        </a:solidFill>
                        <a:effectLst/>
                        <a:latin typeface="Calibri" panose="020F0502020204030204" pitchFamily="34" charset="0"/>
                      </a:endParaRPr>
                    </a:p>
                  </a:txBody>
                  <a:tcPr marL="9470" marR="9470" marT="9470" marB="0" anchor="b"/>
                </a:tc>
                <a:extLst>
                  <a:ext uri="{0D108BD9-81ED-4DB2-BD59-A6C34878D82A}">
                    <a16:rowId xmlns:a16="http://schemas.microsoft.com/office/drawing/2014/main" val="2769941087"/>
                  </a:ext>
                </a:extLst>
              </a:tr>
              <a:tr h="189404">
                <a:tc>
                  <a:txBody>
                    <a:bodyPr/>
                    <a:lstStyle/>
                    <a:p>
                      <a:pPr algn="l" fontAlgn="b"/>
                      <a:r>
                        <a:rPr lang="en-US" sz="1100" u="none" strike="noStrike">
                          <a:effectLst/>
                        </a:rPr>
                        <a:t>Top2-cada065</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9729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0m0.067s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8756.1</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21919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0m0.855s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19727.1</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1582295</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0m37.684s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1424065.5</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5335452</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0m40.407s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4801906.8</a:t>
                      </a:r>
                      <a:endParaRPr lang="en-US" sz="1100" b="0" i="0" u="none" strike="noStrike">
                        <a:solidFill>
                          <a:srgbClr val="000000"/>
                        </a:solidFill>
                        <a:effectLst/>
                        <a:latin typeface="Calibri" panose="020F0502020204030204" pitchFamily="34" charset="0"/>
                      </a:endParaRPr>
                    </a:p>
                  </a:txBody>
                  <a:tcPr marL="9470" marR="9470" marT="9470" marB="0" anchor="b"/>
                </a:tc>
                <a:extLst>
                  <a:ext uri="{0D108BD9-81ED-4DB2-BD59-A6C34878D82A}">
                    <a16:rowId xmlns:a16="http://schemas.microsoft.com/office/drawing/2014/main" val="3158362334"/>
                  </a:ext>
                </a:extLst>
              </a:tr>
              <a:tr h="189404">
                <a:tc>
                  <a:txBody>
                    <a:bodyPr/>
                    <a:lstStyle/>
                    <a:p>
                      <a:pPr algn="l" fontAlgn="b"/>
                      <a:r>
                        <a:rPr lang="en-US" sz="1100" u="none" strike="noStrike">
                          <a:effectLst/>
                        </a:rPr>
                        <a:t>Top3-cada009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10423</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0m0.063s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9380.7</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20757</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0m2.866s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0.95</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19719.2</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1541891</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0m42.984s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1387701.9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5324583</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l" fontAlgn="b"/>
                      <a:r>
                        <a:rPr lang="en-US" sz="1100" u="none" strike="noStrike">
                          <a:effectLst/>
                        </a:rPr>
                        <a:t>0m34.099s</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a:effectLst/>
                        </a:rPr>
                        <a:t>0.9</a:t>
                      </a:r>
                      <a:endParaRPr lang="en-US" sz="1100" b="0" i="0" u="none" strike="noStrike">
                        <a:solidFill>
                          <a:srgbClr val="000000"/>
                        </a:solidFill>
                        <a:effectLst/>
                        <a:latin typeface="Calibri" panose="020F0502020204030204" pitchFamily="34" charset="0"/>
                      </a:endParaRPr>
                    </a:p>
                  </a:txBody>
                  <a:tcPr marL="9470" marR="9470" marT="9470" marB="0" anchor="b"/>
                </a:tc>
                <a:tc>
                  <a:txBody>
                    <a:bodyPr/>
                    <a:lstStyle/>
                    <a:p>
                      <a:pPr algn="r" fontAlgn="b"/>
                      <a:r>
                        <a:rPr lang="en-US" sz="1100" u="none" strike="noStrike" dirty="0">
                          <a:effectLst/>
                        </a:rPr>
                        <a:t>4792124.7</a:t>
                      </a:r>
                      <a:endParaRPr lang="en-US" sz="1100" b="0" i="0" u="none" strike="noStrike" dirty="0">
                        <a:solidFill>
                          <a:srgbClr val="000000"/>
                        </a:solidFill>
                        <a:effectLst/>
                        <a:latin typeface="Calibri" panose="020F0502020204030204" pitchFamily="34" charset="0"/>
                      </a:endParaRPr>
                    </a:p>
                  </a:txBody>
                  <a:tcPr marL="9470" marR="9470" marT="9470" marB="0" anchor="b"/>
                </a:tc>
                <a:extLst>
                  <a:ext uri="{0D108BD9-81ED-4DB2-BD59-A6C34878D82A}">
                    <a16:rowId xmlns:a16="http://schemas.microsoft.com/office/drawing/2014/main" val="3561185606"/>
                  </a:ext>
                </a:extLst>
              </a:tr>
            </a:tbl>
          </a:graphicData>
        </a:graphic>
      </p:graphicFrame>
    </p:spTree>
    <p:extLst>
      <p:ext uri="{BB962C8B-B14F-4D97-AF65-F5344CB8AC3E}">
        <p14:creationId xmlns:p14="http://schemas.microsoft.com/office/powerpoint/2010/main" val="7339963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HAPE" val="Y"/>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TEMPLATE-001" val="12/13/2015 5:23:58 PM"/>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TEMPLATE-001" val="12/19/2015 4:31:23 PM"/>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TEMPLATE-001" val="12/24/2015 3:32:09 PM"/>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TEMPLATE-001" val="1/6/2016 2:39:37 PM"/>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SHAPE" val="Y"/>
</p:tagLst>
</file>

<file path=ppt/tags/tag60.xml><?xml version="1.0" encoding="utf-8"?>
<p:tagLst xmlns:a="http://schemas.openxmlformats.org/drawingml/2006/main" xmlns:r="http://schemas.openxmlformats.org/officeDocument/2006/relationships" xmlns:p="http://schemas.openxmlformats.org/presentationml/2006/main">
  <p:tag name="SYNOPSYS-SHAPE" val="Y"/>
</p:tagLst>
</file>

<file path=ppt/tags/tag61.xml><?xml version="1.0" encoding="utf-8"?>
<p:tagLst xmlns:a="http://schemas.openxmlformats.org/drawingml/2006/main" xmlns:r="http://schemas.openxmlformats.org/officeDocument/2006/relationships" xmlns:p="http://schemas.openxmlformats.org/presentationml/2006/main">
  <p:tag name="SYNOPSYS-SHAPE" val="Y"/>
</p:tagLst>
</file>

<file path=ppt/tags/tag62.xml><?xml version="1.0" encoding="utf-8"?>
<p:tagLst xmlns:a="http://schemas.openxmlformats.org/drawingml/2006/main" xmlns:r="http://schemas.openxmlformats.org/officeDocument/2006/relationships" xmlns:p="http://schemas.openxmlformats.org/presentationml/2006/main">
  <p:tag name="SYNOPSYS-SHAPE" val="Y"/>
</p:tagLst>
</file>

<file path=ppt/tags/tag63.xml><?xml version="1.0" encoding="utf-8"?>
<p:tagLst xmlns:a="http://schemas.openxmlformats.org/drawingml/2006/main" xmlns:r="http://schemas.openxmlformats.org/officeDocument/2006/relationships" xmlns:p="http://schemas.openxmlformats.org/presentationml/2006/main">
  <p:tag name="SYNOPSYS-SHAPE" val="Y"/>
</p:tagLst>
</file>

<file path=ppt/tags/tag64.xml><?xml version="1.0" encoding="utf-8"?>
<p:tagLst xmlns:a="http://schemas.openxmlformats.org/drawingml/2006/main" xmlns:r="http://schemas.openxmlformats.org/officeDocument/2006/relationships" xmlns:p="http://schemas.openxmlformats.org/presentationml/2006/main">
  <p:tag name="SYNOPSYS-SHAPE" val="Y"/>
</p:tagLst>
</file>

<file path=ppt/tags/tag65.xml><?xml version="1.0" encoding="utf-8"?>
<p:tagLst xmlns:a="http://schemas.openxmlformats.org/drawingml/2006/main" xmlns:r="http://schemas.openxmlformats.org/officeDocument/2006/relationships" xmlns:p="http://schemas.openxmlformats.org/presentationml/2006/main">
  <p:tag name="SYNOPSYS-SHAPE" val="Y"/>
</p:tagLst>
</file>

<file path=ppt/tags/tag66.xml><?xml version="1.0" encoding="utf-8"?>
<p:tagLst xmlns:a="http://schemas.openxmlformats.org/drawingml/2006/main" xmlns:r="http://schemas.openxmlformats.org/officeDocument/2006/relationships" xmlns:p="http://schemas.openxmlformats.org/presentationml/2006/main">
  <p:tag name="SYNOPSYS-SHAPE" val="Y"/>
</p:tagLst>
</file>

<file path=ppt/tags/tag67.xml><?xml version="1.0" encoding="utf-8"?>
<p:tagLst xmlns:a="http://schemas.openxmlformats.org/drawingml/2006/main" xmlns:r="http://schemas.openxmlformats.org/officeDocument/2006/relationships" xmlns:p="http://schemas.openxmlformats.org/presentationml/2006/main">
  <p:tag name="SYNOPSYS-SHAPE" val="Y"/>
</p:tagLst>
</file>

<file path=ppt/tags/tag68.xml><?xml version="1.0" encoding="utf-8"?>
<p:tagLst xmlns:a="http://schemas.openxmlformats.org/drawingml/2006/main" xmlns:r="http://schemas.openxmlformats.org/officeDocument/2006/relationships" xmlns:p="http://schemas.openxmlformats.org/presentationml/2006/main">
  <p:tag name="SYNOPSYS-SHAPE" val="Y"/>
</p:tagLst>
</file>

<file path=ppt/tags/tag69.xml><?xml version="1.0" encoding="utf-8"?>
<p:tagLst xmlns:a="http://schemas.openxmlformats.org/drawingml/2006/main" xmlns:r="http://schemas.openxmlformats.org/officeDocument/2006/relationships" xmlns:p="http://schemas.openxmlformats.org/presentationml/2006/main">
  <p:tag name="SYNOPSYS-SHAPE" val="Y"/>
</p:tagLst>
</file>

<file path=ppt/tags/tag70.xml><?xml version="1.0" encoding="utf-8"?>
<p:tagLst xmlns:a="http://schemas.openxmlformats.org/drawingml/2006/main" xmlns:r="http://schemas.openxmlformats.org/officeDocument/2006/relationships" xmlns:p="http://schemas.openxmlformats.org/presentationml/2006/main">
  <p:tag name="SYNOPSYS-SHAPE" val="Y"/>
</p:tagLst>
</file>

<file path=ppt/tags/tag71.xml><?xml version="1.0" encoding="utf-8"?>
<p:tagLst xmlns:a="http://schemas.openxmlformats.org/drawingml/2006/main" xmlns:r="http://schemas.openxmlformats.org/officeDocument/2006/relationships" xmlns:p="http://schemas.openxmlformats.org/presentationml/2006/main">
  <p:tag name="SYNOPSYS-SHAPE" val="Y"/>
</p:tagLst>
</file>

<file path=ppt/tags/tag72.xml><?xml version="1.0" encoding="utf-8"?>
<p:tagLst xmlns:a="http://schemas.openxmlformats.org/drawingml/2006/main" xmlns:r="http://schemas.openxmlformats.org/officeDocument/2006/relationships" xmlns:p="http://schemas.openxmlformats.org/presentationml/2006/main">
  <p:tag name="SYNOPSYS-SHAPE" val="Y"/>
</p:tagLst>
</file>

<file path=ppt/tags/tag73.xml><?xml version="1.0" encoding="utf-8"?>
<p:tagLst xmlns:a="http://schemas.openxmlformats.org/drawingml/2006/main" xmlns:r="http://schemas.openxmlformats.org/officeDocument/2006/relationships" xmlns:p="http://schemas.openxmlformats.org/presentationml/2006/main">
  <p:tag name="SYNOPSYS-SHAPE" val="Y"/>
</p:tagLst>
</file>

<file path=ppt/tags/tag74.xml><?xml version="1.0" encoding="utf-8"?>
<p:tagLst xmlns:a="http://schemas.openxmlformats.org/drawingml/2006/main" xmlns:r="http://schemas.openxmlformats.org/officeDocument/2006/relationships" xmlns:p="http://schemas.openxmlformats.org/presentationml/2006/main">
  <p:tag name="SYNOPSYS-SHAPE" val="Y"/>
</p:tagLst>
</file>

<file path=ppt/tags/tag75.xml><?xml version="1.0" encoding="utf-8"?>
<p:tagLst xmlns:a="http://schemas.openxmlformats.org/drawingml/2006/main" xmlns:r="http://schemas.openxmlformats.org/officeDocument/2006/relationships" xmlns:p="http://schemas.openxmlformats.org/presentationml/2006/main">
  <p:tag name="SYNOPSYS-SHAPE" val="Y"/>
</p:tagLst>
</file>

<file path=ppt/tags/tag76.xml><?xml version="1.0" encoding="utf-8"?>
<p:tagLst xmlns:a="http://schemas.openxmlformats.org/drawingml/2006/main" xmlns:r="http://schemas.openxmlformats.org/officeDocument/2006/relationships" xmlns:p="http://schemas.openxmlformats.org/presentationml/2006/main">
  <p:tag name="SYNOPSYS-SHAPE" val="Y"/>
</p:tagLst>
</file>

<file path=ppt/tags/tag77.xml><?xml version="1.0" encoding="utf-8"?>
<p:tagLst xmlns:a="http://schemas.openxmlformats.org/drawingml/2006/main" xmlns:r="http://schemas.openxmlformats.org/officeDocument/2006/relationships" xmlns:p="http://schemas.openxmlformats.org/presentationml/2006/main">
  <p:tag name="SYNOPSYS-SHAPE" val="Y"/>
</p:tagLst>
</file>

<file path=ppt/tags/tag78.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Default Theme">
  <a:themeElements>
    <a:clrScheme name="Default Theme">
      <a:dk1>
        <a:sysClr val="windowText" lastClr="000000"/>
      </a:dk1>
      <a:lt1>
        <a:sysClr val="window" lastClr="FFFFFF"/>
      </a:lt1>
      <a:dk2>
        <a:srgbClr val="000000"/>
      </a:dk2>
      <a:lt2>
        <a:srgbClr val="FFFFFF"/>
      </a:lt2>
      <a:accent1>
        <a:srgbClr val="4F2683"/>
      </a:accent1>
      <a:accent2>
        <a:srgbClr val="F69008"/>
      </a:accent2>
      <a:accent3>
        <a:srgbClr val="46AA42"/>
      </a:accent3>
      <a:accent4>
        <a:srgbClr val="C41300"/>
      </a:accent4>
      <a:accent5>
        <a:srgbClr val="BCBCBC"/>
      </a:accent5>
      <a:accent6>
        <a:srgbClr val="0072AC"/>
      </a:accent6>
      <a:hlink>
        <a:srgbClr val="0000FF"/>
      </a:hlink>
      <a:folHlink>
        <a:srgbClr val="800080"/>
      </a:folHlink>
    </a:clrScheme>
    <a:fontScheme name="Default Theme">
      <a:majorFont>
        <a:latin typeface="Arial" panose="020B0604020202020204"/>
        <a:ea typeface=""/>
        <a:cs typeface=""/>
        <a:font script="Jpan" typeface="メイリオ"/>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メイリオ"/>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fault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800" dirty="0"/>
        </a:defPPr>
      </a:lstStyle>
      <a:style>
        <a:lnRef idx="2">
          <a:schemeClr val="accent1">
            <a:shade val="50000"/>
          </a:schemeClr>
        </a:lnRef>
        <a:fillRef idx="1">
          <a:schemeClr val="accent1"/>
        </a:fillRef>
        <a:effectRef idx="0">
          <a:schemeClr val="accent1"/>
        </a:effectRef>
        <a:fontRef idx="minor">
          <a:schemeClr val="lt1"/>
        </a:fontRef>
      </a:style>
    </a:spDef>
    <a:lnDef>
      <a:spPr>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800" dirty="0"/>
        </a:defPPr>
      </a:lstStyle>
    </a:txDef>
  </a:objectDefaults>
  <a:extraClrSchemeLst/>
  <a:extLst>
    <a:ext uri="{05A4C25C-085E-4340-85A3-A5531E510DB2}">
      <thm15:themeFamily xmlns:thm15="http://schemas.microsoft.com/office/thememl/2012/main" name="Default Theme" id="{6D1F9C5A-2AEA-433E-9F31-B7D4577B66E9}" vid="{EBCC1F61-21FD-4864-9BE9-BDE6511C7A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5719</TotalTime>
  <Words>1094</Words>
  <Application>Microsoft Office PowerPoint</Application>
  <PresentationFormat>Widescreen</PresentationFormat>
  <Paragraphs>682</Paragraphs>
  <Slides>17</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微軟正黑體</vt:lpstr>
      <vt:lpstr>新細明體</vt:lpstr>
      <vt:lpstr>Arial</vt:lpstr>
      <vt:lpstr>Calibri</vt:lpstr>
      <vt:lpstr>Default Theme</vt:lpstr>
      <vt:lpstr>ICCAD-2017 CAD Contest in Net Open Location Finder with Obstacles</vt:lpstr>
      <vt:lpstr>Outline</vt:lpstr>
      <vt:lpstr>Problem Description</vt:lpstr>
      <vt:lpstr>Problem Description</vt:lpstr>
      <vt:lpstr>Evaluation Methodology</vt:lpstr>
      <vt:lpstr>Benchmarks</vt:lpstr>
      <vt:lpstr>Results</vt:lpstr>
      <vt:lpstr>Results</vt:lpstr>
      <vt:lpstr>Results</vt:lpstr>
      <vt:lpstr>Results</vt:lpstr>
      <vt:lpstr>Results</vt:lpstr>
      <vt:lpstr>Award Announcement</vt:lpstr>
      <vt:lpstr>Third Place</vt:lpstr>
      <vt:lpstr>Second Place</vt:lpstr>
      <vt:lpstr>First Place</vt:lpstr>
      <vt:lpstr>PowerPoint Presentation</vt:lpstr>
      <vt:lpstr>Top3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ICCAD-2017 CAD Contest in Net Open Location Finder with Obstacles</dc:title>
  <dc:creator>Kai-Shun Hu</dc:creator>
  <cp:lastModifiedBy>Kai-Shun Hu</cp:lastModifiedBy>
  <cp:revision>109</cp:revision>
  <dcterms:created xsi:type="dcterms:W3CDTF">2017-10-18T07:53:15Z</dcterms:created>
  <dcterms:modified xsi:type="dcterms:W3CDTF">2017-11-15T06:55:47Z</dcterms:modified>
</cp:coreProperties>
</file>